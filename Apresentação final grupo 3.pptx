
<file path=[Content_Types].xml><?xml version="1.0" encoding="utf-8"?>
<Types xmlns="http://schemas.openxmlformats.org/package/2006/content-types">
  <Default Extension="jpeg" ContentType="image/jpeg"/>
  <Default Extension="jpg" ContentType="image/jp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51" r:id="rId2"/>
  </p:sldMasterIdLst>
  <p:notesMasterIdLst>
    <p:notesMasterId r:id="rId14"/>
  </p:notesMasterIdLst>
  <p:sldIdLst>
    <p:sldId id="256" r:id="rId3"/>
    <p:sldId id="257" r:id="rId4"/>
    <p:sldId id="258" r:id="rId5"/>
    <p:sldId id="266" r:id="rId6"/>
    <p:sldId id="267" r:id="rId7"/>
    <p:sldId id="268" r:id="rId8"/>
    <p:sldId id="269" r:id="rId9"/>
    <p:sldId id="272" r:id="rId10"/>
    <p:sldId id="270" r:id="rId11"/>
    <p:sldId id="271" r:id="rId12"/>
    <p:sldId id="264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75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096075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Capa da apresentação final do Postinder. Identidade visual em magenta, conectando a plataforma ao branding da 20Cinco Comunicação. Texto principal e elementos de layout editáveis; logos oficiais inseridos a partir do arquivo institucional fornecido.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 — Problema. Proposta de fala: começar pelo hábito atual de aprovar conteúdos em conversas de WhatsApp. Avançar com o controle remoto destacando cada elemento da direita: WhatsApp, arquivos, versões, feedbacks e decisão final. Fechar com a frase de impacto: o problema não é apenas aprovar; é conseguir provar, recuperar e acompanhar o que foi aprovado.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3 — Solução. Proposta de cliques: 1) mostrar o Antes, retomando a dispersão do slide anterior; 2) revelar o Postinder como ponto de centralização; 3) revelar o Depois; 4) destacar os quatro verbos do fluxo: enviar, revisar, decidir e registrar; 5) fechar com a ideia central do slide. Fala sugerida: a proposta não é criar mais uma etapa burocrática, mas transformar a aprovação em um fluxo simples para o cliente e rastreável para a empresa.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4 — Jornada do cliente. Proposta de cliques: 1) revelar 20Cinco envia; 2) revelar cliente acessa; 3) revelar visualiza; 4) revelar decide; 5) revelar as três opções de decisão: aprovar, pedir ajuste e adorei; 6) revelar feedback registrado; 7) fechar com a frase: jornada simples para o cliente, processo rastreável para a empresa. Fala sugerida: aqui a banca deve perceber que o foco da solução não é só a área administrativa, mas principalmente uma experiência simples para o usuário final.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Fala sugerida: O Postinder é uma aplicação web. A interface foi desenvolvida com React e Vite, conectada a uma aplicação em Node.js e TypeScript. Os dados são armazenados no PostgreSQL e os arquivos no Supabase. A solução utiliza autenticação por perfis, possui 331 testes automatizados e é publicada na Vercel e no Render.</a:t>
            </a:r>
          </a:p>
          <a:p>
            <a:endParaRPr/>
          </a:p>
          <a:p>
            <a:r>
              <a:t>[Sources]</a:t>
            </a:r>
          </a:p>
          <a:p>
            <a:r>
              <a:t>- Repositório Postinder: README.md, apps/admin/package.json, backend/package.json e PROJECT_STATE.md.</a:t>
            </a:r>
          </a:p>
          <a:p>
            <a:r>
              <a:t>- Validação local desta tarefa: 215 testes do backend + 116 testes do frontend = 331 testes aprovados.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04408E-02AF-4052-80B5-6E5AA649E1A5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332167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2DC87-4B97-4A7C-BC4C-6E77245616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B59FD9-57FD-4ABA-9FCD-7954052534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7BD40E-B0AA-47B8-900F-488A8AEC1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584D-7D79-4248-9986-4CA35242F94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5E623C-1E35-4485-A5B4-A71969BE70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5C6BB9-EF4F-465E-985B-34521F68C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24817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69286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2DC87-4B97-4A7C-BC4C-6E77245616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B59FD9-57FD-4ABA-9FCD-7954052534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7BD40E-B0AA-47B8-900F-488A8AEC1BC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C485584D-7D79-4248-9986-4CA35242F944}" type="datetimeFigureOut">
              <a:t>20/08/2026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5E623C-1E35-4485-A5B4-A71969BE706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5C6BB9-EF4F-465E-985B-34521F68C58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19590046-DA73-4BBF-84B5-C08E6F75191A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641956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836135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</p:sldLayoutIdLst>
  <p:hf sldNum="0" hdr="0" ftr="0" dt="0"/>
  <p:txStyles>
    <p:titleStyle>
      <a:lvl1pPr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sv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jpeg"/><Relationship Id="rId3" Type="http://schemas.openxmlformats.org/officeDocument/2006/relationships/image" Target="../media/image15.jpeg"/><Relationship Id="rId7" Type="http://schemas.openxmlformats.org/officeDocument/2006/relationships/image" Target="../media/image19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jpeg"/><Relationship Id="rId5" Type="http://schemas.openxmlformats.org/officeDocument/2006/relationships/image" Target="../media/image17.jpeg"/><Relationship Id="rId10" Type="http://schemas.openxmlformats.org/officeDocument/2006/relationships/image" Target="../media/image22.jpeg"/><Relationship Id="rId4" Type="http://schemas.openxmlformats.org/officeDocument/2006/relationships/image" Target="../media/image16.jpeg"/><Relationship Id="rId9" Type="http://schemas.openxmlformats.org/officeDocument/2006/relationships/image" Target="../media/image21.jpe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9.jp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sv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05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high_resolution_abstract_futuristic_tech_backgro.png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1335024"/>
            <a:ext cx="91440" cy="1463040"/>
          </a:xfrm>
          <a:prstGeom prst="rect">
            <a:avLst/>
          </a:prstGeom>
          <a:solidFill>
            <a:srgbClr val="EF3F93"/>
          </a:solidFill>
          <a:ln w="12700">
            <a:solidFill>
              <a:srgbClr val="EF3F9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4" name="Text 1"/>
          <p:cNvSpPr/>
          <p:nvPr/>
        </p:nvSpPr>
        <p:spPr>
          <a:xfrm>
            <a:off x="950976" y="1234440"/>
            <a:ext cx="5257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pt-BR" sz="5700" b="1" noProof="0" dirty="0" err="1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Postinder</a:t>
            </a:r>
            <a:endParaRPr lang="pt-BR" sz="5700" noProof="0" dirty="0"/>
          </a:p>
        </p:txBody>
      </p:sp>
      <p:sp>
        <p:nvSpPr>
          <p:cNvPr id="5" name="Text 2"/>
          <p:cNvSpPr/>
          <p:nvPr/>
        </p:nvSpPr>
        <p:spPr>
          <a:xfrm>
            <a:off x="987552" y="2359152"/>
            <a:ext cx="5532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pt-BR" sz="2200" noProof="0" dirty="0">
                <a:solidFill>
                  <a:srgbClr val="F160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Plataforma de Aprovação de Conteúdos</a:t>
            </a:r>
            <a:endParaRPr lang="pt-BR" sz="2200" noProof="0" dirty="0"/>
          </a:p>
        </p:txBody>
      </p:sp>
      <p:sp>
        <p:nvSpPr>
          <p:cNvPr id="6" name="Shape 3"/>
          <p:cNvSpPr/>
          <p:nvPr/>
        </p:nvSpPr>
        <p:spPr>
          <a:xfrm>
            <a:off x="4836938" y="1234440"/>
            <a:ext cx="640080" cy="640080"/>
          </a:xfrm>
          <a:prstGeom prst="ellipse">
            <a:avLst/>
          </a:prstGeom>
          <a:solidFill>
            <a:srgbClr val="EF3F93">
              <a:alpha val="93000"/>
            </a:srgbClr>
          </a:solidFill>
          <a:ln w="15240">
            <a:solidFill>
              <a:srgbClr val="EF3F93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8" name="Shape 5"/>
          <p:cNvSpPr/>
          <p:nvPr/>
        </p:nvSpPr>
        <p:spPr>
          <a:xfrm>
            <a:off x="1005840" y="4050792"/>
            <a:ext cx="5486400" cy="0"/>
          </a:xfrm>
          <a:prstGeom prst="line">
            <a:avLst/>
          </a:prstGeom>
          <a:noFill/>
          <a:ln w="12700">
            <a:solidFill>
              <a:srgbClr val="EF3F93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9" name="Text 6"/>
          <p:cNvSpPr/>
          <p:nvPr/>
        </p:nvSpPr>
        <p:spPr>
          <a:xfrm>
            <a:off x="1600200" y="3172968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pt-BR" sz="2000" noProof="0" dirty="0">
                <a:solidFill>
                  <a:srgbClr val="F4E8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Apresentação Final do Projeto</a:t>
            </a:r>
            <a:endParaRPr lang="pt-BR" sz="2000" noProof="0" dirty="0"/>
          </a:p>
        </p:txBody>
      </p:sp>
      <p:sp>
        <p:nvSpPr>
          <p:cNvPr id="10" name="Text 7"/>
          <p:cNvSpPr/>
          <p:nvPr/>
        </p:nvSpPr>
        <p:spPr>
          <a:xfrm>
            <a:off x="1518999" y="3517935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pt-BR" sz="2000" b="1" noProof="0" dirty="0">
                <a:solidFill>
                  <a:srgbClr val="F15A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 de Residência em TIC 55</a:t>
            </a:r>
            <a:endParaRPr lang="pt-BR" sz="2000" noProof="0" dirty="0"/>
          </a:p>
        </p:txBody>
      </p:sp>
      <p:sp>
        <p:nvSpPr>
          <p:cNvPr id="11" name="Text 8"/>
          <p:cNvSpPr/>
          <p:nvPr/>
        </p:nvSpPr>
        <p:spPr>
          <a:xfrm>
            <a:off x="1005840" y="4160519"/>
            <a:ext cx="73152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pt-BR" sz="1320" b="1" u="sng" noProof="0" dirty="0">
                <a:solidFill>
                  <a:srgbClr val="F6EC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Grupo 3</a:t>
            </a:r>
          </a:p>
          <a:p>
            <a:r>
              <a:rPr lang="pt-BR" sz="1320" noProof="0" dirty="0">
                <a:solidFill>
                  <a:srgbClr val="F6EC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Erick Maciel • Matheus Silva  • Matheus Winck  • Murilo Saul  •  Sidnei </a:t>
            </a:r>
            <a:r>
              <a:rPr lang="pt-BR" sz="1320" noProof="0" dirty="0" err="1">
                <a:solidFill>
                  <a:srgbClr val="F6EC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Eckhardt</a:t>
            </a:r>
            <a:endParaRPr lang="pt-BR" sz="1320" noProof="0" dirty="0"/>
          </a:p>
        </p:txBody>
      </p:sp>
      <p:sp>
        <p:nvSpPr>
          <p:cNvPr id="12" name="Text 9"/>
          <p:cNvSpPr/>
          <p:nvPr/>
        </p:nvSpPr>
        <p:spPr>
          <a:xfrm>
            <a:off x="1005840" y="4724270"/>
            <a:ext cx="3063240" cy="68580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pt-BR" sz="1500" noProof="0" dirty="0">
                <a:solidFill>
                  <a:srgbClr val="F15A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Orientadora: </a:t>
            </a:r>
            <a:r>
              <a:rPr lang="pt-BR" sz="1500" noProof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Izabel Santos</a:t>
            </a:r>
          </a:p>
          <a:p>
            <a:r>
              <a:rPr lang="pt-BR" sz="1500" noProof="0" dirty="0">
                <a:solidFill>
                  <a:srgbClr val="F15A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Coordenador: </a:t>
            </a:r>
            <a:r>
              <a:rPr lang="pt-BR" sz="1500" noProof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Maurício Santos</a:t>
            </a:r>
          </a:p>
        </p:txBody>
      </p:sp>
      <p:pic>
        <p:nvPicPr>
          <p:cNvPr id="13" name="Image 1" descr="/mnt/data/logo_20cinco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976" y="2961354"/>
            <a:ext cx="860859" cy="917002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0" y="5532120"/>
            <a:ext cx="12191695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0" name="Text Realizacao"/>
          <p:cNvSpPr/>
          <p:nvPr/>
        </p:nvSpPr>
        <p:spPr>
          <a:xfrm>
            <a:off x="502920" y="5578475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pt-BR" sz="1100" b="1" noProof="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Realização:</a:t>
            </a:r>
            <a:endParaRPr lang="pt-BR" sz="1100" noProof="0" dirty="0"/>
          </a:p>
        </p:txBody>
      </p:sp>
      <p:sp>
        <p:nvSpPr>
          <p:cNvPr id="16" name="Shape 11"/>
          <p:cNvSpPr/>
          <p:nvPr/>
        </p:nvSpPr>
        <p:spPr>
          <a:xfrm>
            <a:off x="3154680" y="5742432"/>
            <a:ext cx="0" cy="713232"/>
          </a:xfrm>
          <a:prstGeom prst="line">
            <a:avLst/>
          </a:prstGeom>
          <a:noFill/>
          <a:ln w="12700">
            <a:solidFill>
              <a:srgbClr val="B8B8B8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8" name="Shape 12"/>
          <p:cNvSpPr/>
          <p:nvPr/>
        </p:nvSpPr>
        <p:spPr>
          <a:xfrm>
            <a:off x="6035040" y="5742432"/>
            <a:ext cx="0" cy="713232"/>
          </a:xfrm>
          <a:prstGeom prst="line">
            <a:avLst/>
          </a:prstGeom>
          <a:noFill/>
          <a:ln w="12700">
            <a:solidFill>
              <a:srgbClr val="B8B8B8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pic>
        <p:nvPicPr>
          <p:cNvPr id="22" name="Gráfico 21" descr="Fogo com preenchimento sólido">
            <a:extLst>
              <a:ext uri="{FF2B5EF4-FFF2-40B4-BE49-F238E27FC236}">
                <a16:creationId xmlns:a16="http://schemas.microsoft.com/office/drawing/2014/main" id="{A3E0174A-6062-24C2-AB74-8BA2A5491FC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836938" y="1246904"/>
            <a:ext cx="640080" cy="640080"/>
          </a:xfrm>
          <a:prstGeom prst="rect">
            <a:avLst/>
          </a:prstGeom>
        </p:spPr>
      </p:pic>
      <p:pic>
        <p:nvPicPr>
          <p:cNvPr id="21" name="image1.png" descr="Placa de letreiro luminoso&#10;&#10;Descrição gerada automaticamente com confiança média">
            <a:extLst>
              <a:ext uri="{FF2B5EF4-FFF2-40B4-BE49-F238E27FC236}">
                <a16:creationId xmlns:a16="http://schemas.microsoft.com/office/drawing/2014/main" id="{FE6107CE-32D4-F8BD-55B0-07C3EA6B5D8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 bwMode="auto">
          <a:xfrm>
            <a:off x="3575239" y="5831666"/>
            <a:ext cx="1901779" cy="652263"/>
          </a:xfrm>
          <a:prstGeom prst="rect">
            <a:avLst/>
          </a:prstGeom>
        </p:spPr>
      </p:pic>
      <p:pic>
        <p:nvPicPr>
          <p:cNvPr id="24" name="Imagem 23" descr="Logotipo&#10;&#10;O conteúdo gerado por IA pode estar incorreto.">
            <a:extLst>
              <a:ext uri="{FF2B5EF4-FFF2-40B4-BE49-F238E27FC236}">
                <a16:creationId xmlns:a16="http://schemas.microsoft.com/office/drawing/2014/main" id="{EEB65A36-2EC0-B209-B14F-771A64A2501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079" y="5967298"/>
            <a:ext cx="1896011" cy="488366"/>
          </a:xfrm>
          <a:prstGeom prst="rect">
            <a:avLst/>
          </a:prstGeom>
        </p:spPr>
      </p:pic>
      <p:pic>
        <p:nvPicPr>
          <p:cNvPr id="26" name="Imagem 25">
            <a:extLst>
              <a:ext uri="{FF2B5EF4-FFF2-40B4-BE49-F238E27FC236}">
                <a16:creationId xmlns:a16="http://schemas.microsoft.com/office/drawing/2014/main" id="{9B87F2AB-9E6A-27F5-CA70-E2A283080F9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11329" y="5815051"/>
            <a:ext cx="2018640" cy="704621"/>
          </a:xfrm>
          <a:prstGeom prst="rect">
            <a:avLst/>
          </a:prstGeom>
        </p:spPr>
      </p:pic>
      <p:pic>
        <p:nvPicPr>
          <p:cNvPr id="28" name="Imagem 27">
            <a:extLst>
              <a:ext uri="{FF2B5EF4-FFF2-40B4-BE49-F238E27FC236}">
                <a16:creationId xmlns:a16="http://schemas.microsoft.com/office/drawing/2014/main" id="{79733498-28C7-06FE-DC4B-F070D6ACA672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r="7165"/>
          <a:stretch>
            <a:fillRect/>
          </a:stretch>
        </p:blipFill>
        <p:spPr>
          <a:xfrm>
            <a:off x="8312642" y="5805238"/>
            <a:ext cx="1205515" cy="678691"/>
          </a:xfrm>
          <a:prstGeom prst="rect">
            <a:avLst/>
          </a:prstGeom>
        </p:spPr>
      </p:pic>
      <p:pic>
        <p:nvPicPr>
          <p:cNvPr id="30" name="Imagem 29">
            <a:extLst>
              <a:ext uri="{FF2B5EF4-FFF2-40B4-BE49-F238E27FC236}">
                <a16:creationId xmlns:a16="http://schemas.microsoft.com/office/drawing/2014/main" id="{0B248493-9362-2916-A977-A4EFF4CCAFC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840939" y="5769494"/>
            <a:ext cx="2027974" cy="776606"/>
          </a:xfrm>
          <a:prstGeom prst="rect">
            <a:avLst/>
          </a:prstGeom>
        </p:spPr>
      </p:pic>
      <p:sp>
        <p:nvSpPr>
          <p:cNvPr id="32" name="Text Realizacao">
            <a:extLst>
              <a:ext uri="{FF2B5EF4-FFF2-40B4-BE49-F238E27FC236}">
                <a16:creationId xmlns:a16="http://schemas.microsoft.com/office/drawing/2014/main" id="{B02EEEFC-5EA7-4C6E-6197-57252D209FAE}"/>
              </a:ext>
            </a:extLst>
          </p:cNvPr>
          <p:cNvSpPr/>
          <p:nvPr/>
        </p:nvSpPr>
        <p:spPr>
          <a:xfrm>
            <a:off x="6293798" y="5613116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pt-BR" sz="1100" b="1" noProof="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Apoio: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00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ostinder_content_bg_dim.jpg"/>
          <p:cNvPicPr>
            <a:picLocks noChangeAspect="1"/>
          </p:cNvPicPr>
          <p:nvPr/>
        </p:nvPicPr>
        <p:blipFill>
          <a:blip r:embed="rId3"/>
          <a:srcRect l="1" r="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8368" y="566928"/>
            <a:ext cx="1947672" cy="338328"/>
          </a:xfrm>
          <a:prstGeom prst="rect">
            <a:avLst/>
          </a:prstGeom>
          <a:solidFill>
            <a:srgbClr val="EF3F93"/>
          </a:solidFill>
          <a:ln>
            <a:solidFill>
              <a:srgbClr val="EF3F93">
                <a:alpha val="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01 · O DESAFIO</a:t>
            </a:r>
            <a:endParaRPr kumimoji="0" lang="pt-BR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" name="Shape 1"/>
          <p:cNvSpPr/>
          <p:nvPr/>
        </p:nvSpPr>
        <p:spPr>
          <a:xfrm>
            <a:off x="658368" y="1243584"/>
            <a:ext cx="73152" cy="1353312"/>
          </a:xfrm>
          <a:prstGeom prst="rect">
            <a:avLst/>
          </a:prstGeom>
          <a:solidFill>
            <a:srgbClr val="EF3F93"/>
          </a:solidFill>
          <a:ln w="12700">
            <a:solidFill>
              <a:srgbClr val="EF3F93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" name="Text 2"/>
          <p:cNvSpPr/>
          <p:nvPr/>
        </p:nvSpPr>
        <p:spPr>
          <a:xfrm>
            <a:off x="950976" y="1106424"/>
            <a:ext cx="44622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4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 problema</a:t>
            </a:r>
            <a:endParaRPr kumimoji="0" lang="pt-BR" sz="4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" name="Text 3"/>
          <p:cNvSpPr/>
          <p:nvPr/>
        </p:nvSpPr>
        <p:spPr>
          <a:xfrm>
            <a:off x="950976" y="1865376"/>
            <a:ext cx="4645152" cy="8778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500" b="1" i="0" u="none" strike="noStrike" kern="1200" cap="none" spc="0" normalizeH="0" baseline="0" noProof="0" dirty="0">
                <a:ln>
                  <a:noFill/>
                </a:ln>
                <a:solidFill>
                  <a:srgbClr val="F166AA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Aprovar conteúdo não deveria depender de procurar mensagens.</a:t>
            </a:r>
            <a:endParaRPr kumimoji="0" lang="pt-BR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8" name="Text 5"/>
          <p:cNvSpPr/>
          <p:nvPr/>
        </p:nvSpPr>
        <p:spPr>
          <a:xfrm>
            <a:off x="2043683" y="3332894"/>
            <a:ext cx="1686715" cy="662931"/>
          </a:xfrm>
          <a:prstGeom prst="rect">
            <a:avLst/>
          </a:prstGeom>
          <a:solidFill>
            <a:srgbClr val="FFFFFF">
              <a:alpha val="11000"/>
            </a:srgbClr>
          </a:solidFill>
          <a:ln w="13970">
            <a:solidFill>
              <a:srgbClr val="EF3F93">
                <a:alpha val="7000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000" b="1" i="0" u="none" strike="noStrike" kern="1200" cap="none" spc="0" normalizeH="0" baseline="0" noProof="0" dirty="0">
                <a:ln>
                  <a:noFill/>
                </a:ln>
                <a:solidFill>
                  <a:srgbClr val="F6D6E7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Retrabalho</a:t>
            </a:r>
            <a:endParaRPr kumimoji="0" lang="pt-BR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</a:endParaRPr>
          </a:p>
        </p:txBody>
      </p:sp>
      <p:sp>
        <p:nvSpPr>
          <p:cNvPr id="9" name="Text 6"/>
          <p:cNvSpPr/>
          <p:nvPr/>
        </p:nvSpPr>
        <p:spPr>
          <a:xfrm>
            <a:off x="1737360" y="4222246"/>
            <a:ext cx="2415811" cy="662931"/>
          </a:xfrm>
          <a:prstGeom prst="rect">
            <a:avLst/>
          </a:prstGeom>
          <a:solidFill>
            <a:srgbClr val="FFFFFF">
              <a:alpha val="11000"/>
            </a:srgbClr>
          </a:solidFill>
          <a:ln w="13970">
            <a:solidFill>
              <a:srgbClr val="EF3F93">
                <a:alpha val="7000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000" b="1" i="0" u="none" strike="noStrike" kern="1200" cap="none" spc="0" normalizeH="0" baseline="0" noProof="0" dirty="0">
                <a:ln>
                  <a:noFill/>
                </a:ln>
                <a:solidFill>
                  <a:srgbClr val="F6D6E7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Perda de contexto</a:t>
            </a:r>
            <a:endParaRPr kumimoji="0" lang="pt-BR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</a:endParaRPr>
          </a:p>
        </p:txBody>
      </p:sp>
      <p:sp>
        <p:nvSpPr>
          <p:cNvPr id="10" name="Text 7"/>
          <p:cNvSpPr/>
          <p:nvPr/>
        </p:nvSpPr>
        <p:spPr>
          <a:xfrm>
            <a:off x="1508759" y="5088635"/>
            <a:ext cx="2959913" cy="662931"/>
          </a:xfrm>
          <a:prstGeom prst="rect">
            <a:avLst/>
          </a:prstGeom>
          <a:solidFill>
            <a:srgbClr val="FFFFFF">
              <a:alpha val="11000"/>
            </a:srgbClr>
          </a:solidFill>
          <a:ln w="13970">
            <a:solidFill>
              <a:srgbClr val="EF3F93">
                <a:alpha val="7000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000" b="1" i="0" u="none" strike="noStrike" kern="1200" cap="none" spc="0" normalizeH="0" baseline="0" noProof="0" dirty="0">
                <a:ln>
                  <a:noFill/>
                </a:ln>
                <a:solidFill>
                  <a:srgbClr val="F6D6E7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Pouca rastreabilidade</a:t>
            </a:r>
            <a:endParaRPr kumimoji="0" lang="pt-BR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</a:endParaRPr>
          </a:p>
        </p:txBody>
      </p:sp>
      <p:sp>
        <p:nvSpPr>
          <p:cNvPr id="11" name="Text 8"/>
          <p:cNvSpPr/>
          <p:nvPr/>
        </p:nvSpPr>
        <p:spPr>
          <a:xfrm>
            <a:off x="6437376" y="310896"/>
            <a:ext cx="2286000" cy="864108"/>
          </a:xfrm>
          <a:prstGeom prst="rect">
            <a:avLst/>
          </a:prstGeom>
          <a:solidFill>
            <a:srgbClr val="FFFFFF">
              <a:alpha val="12000"/>
            </a:srgbClr>
          </a:solidFill>
          <a:ln w="13970">
            <a:solidFill>
              <a:srgbClr val="EF3F93">
                <a:alpha val="8200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WhatsApp</a:t>
            </a:r>
            <a:endParaRPr kumimoji="0" lang="pt-BR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</a:endParaRPr>
          </a:p>
        </p:txBody>
      </p:sp>
      <p:sp>
        <p:nvSpPr>
          <p:cNvPr id="12" name="Text 9"/>
          <p:cNvSpPr/>
          <p:nvPr/>
        </p:nvSpPr>
        <p:spPr>
          <a:xfrm>
            <a:off x="9119311" y="1369314"/>
            <a:ext cx="2572512" cy="864108"/>
          </a:xfrm>
          <a:prstGeom prst="rect">
            <a:avLst/>
          </a:prstGeom>
          <a:solidFill>
            <a:srgbClr val="FFFFFF">
              <a:alpha val="12000"/>
            </a:srgbClr>
          </a:solidFill>
          <a:ln w="13970">
            <a:solidFill>
              <a:srgbClr val="EF3F93">
                <a:alpha val="8200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Arquivos</a:t>
            </a:r>
            <a:endParaRPr kumimoji="0" lang="pt-BR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6872929" y="2507882"/>
            <a:ext cx="2414016" cy="804672"/>
          </a:xfrm>
          <a:prstGeom prst="rect">
            <a:avLst/>
          </a:prstGeom>
          <a:solidFill>
            <a:srgbClr val="FFFFFF">
              <a:alpha val="12000"/>
            </a:srgbClr>
          </a:solidFill>
          <a:ln w="13970">
            <a:solidFill>
              <a:srgbClr val="EF3F93">
                <a:alpha val="8200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Versões</a:t>
            </a:r>
            <a:endParaRPr kumimoji="0" lang="pt-BR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9678830" y="3453166"/>
            <a:ext cx="2236927" cy="864108"/>
          </a:xfrm>
          <a:prstGeom prst="rect">
            <a:avLst/>
          </a:prstGeom>
          <a:solidFill>
            <a:srgbClr val="FFFFFF">
              <a:alpha val="12000"/>
            </a:srgbClr>
          </a:solidFill>
          <a:ln w="13970">
            <a:solidFill>
              <a:srgbClr val="EF3F93">
                <a:alpha val="8200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Feedbacks</a:t>
            </a:r>
            <a:endParaRPr kumimoji="0" lang="pt-BR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7808976" y="4572000"/>
            <a:ext cx="2414016" cy="804672"/>
          </a:xfrm>
          <a:prstGeom prst="rect">
            <a:avLst/>
          </a:prstGeom>
          <a:solidFill>
            <a:srgbClr val="A7014B">
              <a:alpha val="97000"/>
            </a:srgbClr>
          </a:solidFill>
          <a:ln w="20320">
            <a:solidFill>
              <a:srgbClr val="FF3F9B"/>
            </a:solidFill>
          </a:ln>
        </p:spPr>
        <p:txBody>
          <a:bodyPr wrap="square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Decisão final</a:t>
            </a:r>
            <a:endParaRPr kumimoji="0" lang="pt-B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6437376" y="5605272"/>
            <a:ext cx="5102352" cy="676656"/>
          </a:xfrm>
          <a:prstGeom prst="rect">
            <a:avLst/>
          </a:prstGeom>
          <a:solidFill>
            <a:srgbClr val="FFFFFF">
              <a:alpha val="9000"/>
            </a:srgbClr>
          </a:solidFill>
          <a:ln w="13970">
            <a:solidFill>
              <a:srgbClr val="EF3F93">
                <a:alpha val="72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000" b="1" i="0" u="none" strike="noStrike" kern="1200" cap="none" spc="0" normalizeH="0" baseline="0" noProof="0" dirty="0">
                <a:ln>
                  <a:noFill/>
                </a:ln>
                <a:solidFill>
                  <a:srgbClr val="F5DBE8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Resultado: a equipe perde tempo validando o que já deveria estar registrado.</a:t>
            </a:r>
            <a:endParaRPr kumimoji="0" lang="pt-BR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658368" y="6245352"/>
            <a:ext cx="10853928" cy="0"/>
          </a:xfrm>
          <a:prstGeom prst="line">
            <a:avLst/>
          </a:prstGeom>
          <a:noFill/>
          <a:ln w="10160">
            <a:solidFill>
              <a:srgbClr val="EF3F93">
                <a:alpha val="34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658368" y="6382512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50" b="1" i="0" u="none" strike="noStrike" kern="1200" cap="none" spc="0" normalizeH="0" baseline="0" noProof="0" dirty="0" err="1">
                <a:ln>
                  <a:noFill/>
                </a:ln>
                <a:solidFill>
                  <a:srgbClr val="F4D3E4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Postinder</a:t>
            </a:r>
            <a:endParaRPr kumimoji="0" lang="pt-BR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1737360" y="6382512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50" b="0" i="0" u="none" strike="noStrike" kern="1200" cap="none" spc="0" normalizeH="0" baseline="0" noProof="0" dirty="0">
                <a:ln>
                  <a:noFill/>
                </a:ln>
                <a:solidFill>
                  <a:srgbClr val="B99CAE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Apresentação Final do Projeto</a:t>
            </a:r>
            <a:endParaRPr kumimoji="0" lang="pt-BR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8" grpId="1" animBg="1"/>
      <p:bldP spid="9" grpId="0"/>
      <p:bldP spid="9" grpId="1" animBg="1"/>
      <p:bldP spid="10" grpId="0"/>
      <p:bldP spid="10" grpId="1" animBg="1"/>
      <p:bldP spid="11" grpId="0"/>
      <p:bldP spid="11" grpId="1" animBg="1"/>
      <p:bldP spid="12" grpId="0"/>
      <p:bldP spid="12" grpId="1" animBg="1"/>
      <p:bldP spid="13" grpId="0"/>
      <p:bldP spid="13" grpId="1" animBg="1"/>
      <p:bldP spid="14" grpId="0"/>
      <p:bldP spid="14" grpId="1" animBg="1"/>
      <p:bldP spid="15" grpId="0"/>
      <p:bldP spid="15" grpId="1" animBg="1"/>
      <p:bldP spid="16" grpId="0"/>
      <p:bldP spid="16" grpId="1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00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ostinder_content_bg_dim.jpg"/>
          <p:cNvPicPr>
            <a:picLocks noChangeAspect="1"/>
          </p:cNvPicPr>
          <p:nvPr/>
        </p:nvPicPr>
        <p:blipFill>
          <a:blip r:embed="rId3"/>
          <a:srcRect l="1" r="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8368" y="566928"/>
            <a:ext cx="1993392" cy="338328"/>
          </a:xfrm>
          <a:prstGeom prst="rect">
            <a:avLst/>
          </a:prstGeom>
          <a:solidFill>
            <a:srgbClr val="EF3F93"/>
          </a:solidFill>
          <a:ln>
            <a:solidFill>
              <a:srgbClr val="EF3F93">
                <a:alpha val="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02 · A SOLUÇÃO</a:t>
            </a:r>
            <a:endParaRPr kumimoji="0" lang="pt-BR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" name="Shape 1"/>
          <p:cNvSpPr/>
          <p:nvPr/>
        </p:nvSpPr>
        <p:spPr>
          <a:xfrm>
            <a:off x="658368" y="1197864"/>
            <a:ext cx="73152" cy="1389888"/>
          </a:xfrm>
          <a:prstGeom prst="rect">
            <a:avLst/>
          </a:prstGeom>
          <a:solidFill>
            <a:srgbClr val="EF3F93"/>
          </a:solidFill>
          <a:ln w="12700">
            <a:solidFill>
              <a:srgbClr val="EF3F93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" name="Text 2"/>
          <p:cNvSpPr/>
          <p:nvPr/>
        </p:nvSpPr>
        <p:spPr>
          <a:xfrm>
            <a:off x="950976" y="1060704"/>
            <a:ext cx="43708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4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solução</a:t>
            </a:r>
            <a:endParaRPr kumimoji="0" lang="pt-BR" sz="4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" name="Text 3"/>
          <p:cNvSpPr/>
          <p:nvPr/>
        </p:nvSpPr>
        <p:spPr>
          <a:xfrm>
            <a:off x="950976" y="1810512"/>
            <a:ext cx="4864608" cy="8961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500" b="1" i="0" u="none" strike="noStrike" kern="1200" cap="none" spc="0" normalizeH="0" baseline="0" noProof="0" dirty="0">
                <a:ln>
                  <a:noFill/>
                </a:ln>
                <a:solidFill>
                  <a:srgbClr val="F166AA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Centralizar o fluxo sem complicar a experiência do cliente.</a:t>
            </a:r>
            <a:endParaRPr kumimoji="0" lang="pt-BR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8" name="Shape 5"/>
          <p:cNvSpPr/>
          <p:nvPr/>
        </p:nvSpPr>
        <p:spPr>
          <a:xfrm>
            <a:off x="6236208" y="932688"/>
            <a:ext cx="5358384" cy="4343400"/>
          </a:xfrm>
          <a:prstGeom prst="roundRect">
            <a:avLst/>
          </a:prstGeom>
          <a:solidFill>
            <a:srgbClr val="FFFFFF">
              <a:alpha val="6000"/>
            </a:srgbClr>
          </a:solidFill>
          <a:ln w="10160">
            <a:solidFill>
              <a:srgbClr val="EF3F93">
                <a:alpha val="1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9" name="Shape 6"/>
          <p:cNvSpPr/>
          <p:nvPr/>
        </p:nvSpPr>
        <p:spPr>
          <a:xfrm>
            <a:off x="7607808" y="2322576"/>
            <a:ext cx="768096" cy="429768"/>
          </a:xfrm>
          <a:prstGeom prst="line">
            <a:avLst/>
          </a:prstGeom>
          <a:noFill/>
          <a:ln w="27940">
            <a:solidFill>
              <a:srgbClr val="FF3F9B">
                <a:alpha val="90000"/>
              </a:srgbClr>
            </a:solidFill>
            <a:prstDash val="solid"/>
            <a:headEnd type="none"/>
            <a:tailEnd type="triangl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9253728" y="3849624"/>
            <a:ext cx="603504" cy="438912"/>
          </a:xfrm>
          <a:prstGeom prst="line">
            <a:avLst/>
          </a:prstGeom>
          <a:noFill/>
          <a:ln w="27940">
            <a:solidFill>
              <a:srgbClr val="FF3F9B">
                <a:alpha val="90000"/>
              </a:srgbClr>
            </a:solidFill>
            <a:prstDash val="solid"/>
            <a:headEnd type="none"/>
            <a:tailEnd type="triangl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1" name="Text 8"/>
          <p:cNvSpPr/>
          <p:nvPr/>
        </p:nvSpPr>
        <p:spPr>
          <a:xfrm>
            <a:off x="6537959" y="1325880"/>
            <a:ext cx="2531395" cy="987552"/>
          </a:xfrm>
          <a:prstGeom prst="rect">
            <a:avLst/>
          </a:prstGeom>
          <a:solidFill>
            <a:srgbClr val="FFFFFF">
              <a:alpha val="10000"/>
            </a:srgbClr>
          </a:solidFill>
          <a:ln w="13970">
            <a:solidFill>
              <a:srgbClr val="EF3F93">
                <a:alpha val="7800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b="1" i="0" u="none" strike="noStrike" kern="1200" cap="none" spc="0" normalizeH="0" baseline="0" noProof="0" dirty="0">
                <a:ln>
                  <a:noFill/>
                </a:ln>
                <a:solidFill>
                  <a:srgbClr val="FFD7E8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ANTES
</a:t>
            </a: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solidFill>
                  <a:srgbClr val="E9C8D9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mensagens, arquivos e versões espalhados</a:t>
            </a:r>
            <a:endParaRPr kumimoji="0" lang="pt-BR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2" name="Text 9"/>
          <p:cNvSpPr/>
          <p:nvPr/>
        </p:nvSpPr>
        <p:spPr>
          <a:xfrm>
            <a:off x="7351776" y="2752344"/>
            <a:ext cx="2980944" cy="1097280"/>
          </a:xfrm>
          <a:prstGeom prst="rect">
            <a:avLst/>
          </a:prstGeom>
          <a:solidFill>
            <a:srgbClr val="A7014B">
              <a:alpha val="97000"/>
            </a:srgbClr>
          </a:solidFill>
          <a:ln w="17780">
            <a:solidFill>
              <a:srgbClr val="FF3F9B"/>
            </a:solidFill>
          </a:ln>
        </p:spPr>
        <p:txBody>
          <a:bodyPr wrap="square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8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Postinder</a:t>
            </a:r>
            <a:r>
              <a:rPr kumimoji="0" lang="pt-BR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
</a:t>
            </a: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solidFill>
                  <a:srgbClr val="F8BEDB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portal do cliente + painel da equipe</a:t>
            </a:r>
            <a:endParaRPr kumimoji="0" lang="pt-BR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8836091" y="4288536"/>
            <a:ext cx="2463280" cy="987552"/>
          </a:xfrm>
          <a:prstGeom prst="rect">
            <a:avLst/>
          </a:prstGeom>
          <a:solidFill>
            <a:srgbClr val="FFFFFF">
              <a:alpha val="10000"/>
            </a:srgbClr>
          </a:solidFill>
          <a:ln w="13970">
            <a:solidFill>
              <a:srgbClr val="EF3F93">
                <a:alpha val="78000"/>
              </a:srgbClr>
            </a:solidFill>
          </a:ln>
        </p:spPr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b="1" i="0" u="none" strike="noStrike" kern="1200" cap="none" spc="0" normalizeH="0" baseline="0" noProof="0" dirty="0">
                <a:ln>
                  <a:noFill/>
                </a:ln>
                <a:solidFill>
                  <a:srgbClr val="FFD7E8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DEPOIS
</a:t>
            </a: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solidFill>
                  <a:srgbClr val="E9C8D9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aprovação, feedback e histórico em um único fluxo</a:t>
            </a:r>
            <a:endParaRPr kumimoji="0" lang="pt-BR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731520" y="3132706"/>
            <a:ext cx="1005840" cy="329184"/>
          </a:xfrm>
          <a:prstGeom prst="rect">
            <a:avLst/>
          </a:prstGeom>
          <a:solidFill>
            <a:srgbClr val="FFFFFF">
              <a:alpha val="9000"/>
            </a:srgbClr>
          </a:solidFill>
          <a:ln w="10160">
            <a:solidFill>
              <a:srgbClr val="EF3F93">
                <a:alpha val="6400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180" b="1" i="0" u="none" strike="noStrike" kern="1200" cap="none" spc="0" normalizeH="0" baseline="0" noProof="0" dirty="0">
                <a:ln>
                  <a:noFill/>
                </a:ln>
                <a:solidFill>
                  <a:srgbClr val="F8DCEB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Enviar</a:t>
            </a:r>
            <a:endParaRPr kumimoji="0" lang="pt-BR" sz="118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4949953" y="3121370"/>
            <a:ext cx="1005840" cy="329184"/>
          </a:xfrm>
          <a:prstGeom prst="rect">
            <a:avLst/>
          </a:prstGeom>
          <a:solidFill>
            <a:srgbClr val="FFFFFF">
              <a:alpha val="9000"/>
            </a:srgbClr>
          </a:solidFill>
          <a:ln w="10160">
            <a:solidFill>
              <a:srgbClr val="EF3F93">
                <a:alpha val="6400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180" b="1" i="0" u="none" strike="noStrike" kern="1200" cap="none" spc="0" normalizeH="0" baseline="0" noProof="0" dirty="0">
                <a:ln>
                  <a:noFill/>
                </a:ln>
                <a:solidFill>
                  <a:srgbClr val="F8DCEB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Revisar</a:t>
            </a:r>
            <a:endParaRPr kumimoji="0" lang="pt-BR" sz="118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733169" y="5279541"/>
            <a:ext cx="1005840" cy="329184"/>
          </a:xfrm>
          <a:prstGeom prst="rect">
            <a:avLst/>
          </a:prstGeom>
          <a:solidFill>
            <a:srgbClr val="FFFFFF">
              <a:alpha val="9000"/>
            </a:srgbClr>
          </a:solidFill>
          <a:ln w="10160">
            <a:solidFill>
              <a:srgbClr val="EF3F93">
                <a:alpha val="6400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180" b="1" i="0" u="none" strike="noStrike" kern="1200" cap="none" spc="0" normalizeH="0" baseline="0" noProof="0" dirty="0">
                <a:ln>
                  <a:noFill/>
                </a:ln>
                <a:solidFill>
                  <a:srgbClr val="F8DCEB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Decidir</a:t>
            </a:r>
            <a:endParaRPr kumimoji="0" lang="pt-BR" sz="118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4949953" y="5241658"/>
            <a:ext cx="1005840" cy="329184"/>
          </a:xfrm>
          <a:prstGeom prst="rect">
            <a:avLst/>
          </a:prstGeom>
          <a:solidFill>
            <a:srgbClr val="FFFFFF">
              <a:alpha val="9000"/>
            </a:srgbClr>
          </a:solidFill>
          <a:ln w="10160">
            <a:solidFill>
              <a:srgbClr val="EF3F93">
                <a:alpha val="6400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180" b="1" i="0" u="none" strike="noStrike" kern="1200" cap="none" spc="0" normalizeH="0" baseline="0" noProof="0" dirty="0">
                <a:ln>
                  <a:noFill/>
                </a:ln>
                <a:solidFill>
                  <a:srgbClr val="F8DCEB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Registrar</a:t>
            </a:r>
            <a:endParaRPr kumimoji="0" lang="pt-BR" sz="118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1307592" y="3766113"/>
            <a:ext cx="3968496" cy="1209295"/>
          </a:xfrm>
          <a:prstGeom prst="rect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EF3F93">
                <a:alpha val="65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60" b="1" i="0" u="sng" strike="noStrike" kern="1200" cap="none" spc="0" normalizeH="0" baseline="0" noProof="0" dirty="0">
                <a:ln>
                  <a:noFill/>
                </a:ln>
                <a:solidFill>
                  <a:srgbClr val="F5DBE8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Ideia central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460" b="1" i="0" u="sng" strike="noStrike" kern="1200" cap="none" spc="0" normalizeH="0" baseline="0" noProof="0" dirty="0">
              <a:ln>
                <a:noFill/>
              </a:ln>
              <a:solidFill>
                <a:srgbClr val="F5DBE8"/>
              </a:solidFill>
              <a:effectLst/>
              <a:uLnTx/>
              <a:uFillTx/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60" b="1" i="0" u="none" strike="noStrike" kern="1200" cap="none" spc="0" normalizeH="0" baseline="0" noProof="0" dirty="0">
                <a:ln>
                  <a:noFill/>
                </a:ln>
                <a:solidFill>
                  <a:srgbClr val="F5DBE8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O cliente aprova de forma simples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60" b="1" i="0" u="none" strike="noStrike" kern="1200" cap="none" spc="0" normalizeH="0" baseline="0" noProof="0" dirty="0">
                <a:ln>
                  <a:noFill/>
                </a:ln>
                <a:solidFill>
                  <a:srgbClr val="F5DBE8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60" b="1" i="0" u="none" strike="noStrike" kern="1200" cap="none" spc="0" normalizeH="0" baseline="0" noProof="0" dirty="0">
                <a:ln>
                  <a:noFill/>
                </a:ln>
                <a:solidFill>
                  <a:srgbClr val="F5DBE8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A empresa passa a ter controle do processo.</a:t>
            </a:r>
            <a:endParaRPr kumimoji="0" lang="pt-BR" sz="146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658368" y="6245352"/>
            <a:ext cx="10853928" cy="0"/>
          </a:xfrm>
          <a:prstGeom prst="line">
            <a:avLst/>
          </a:prstGeom>
          <a:noFill/>
          <a:ln w="10160">
            <a:solidFill>
              <a:srgbClr val="EF3F93">
                <a:alpha val="34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658368" y="6382512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50" b="1" i="0" u="none" strike="noStrike" kern="1200" cap="none" spc="0" normalizeH="0" baseline="0" noProof="0" dirty="0" err="1">
                <a:ln>
                  <a:noFill/>
                </a:ln>
                <a:solidFill>
                  <a:srgbClr val="F4D3E4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Postinder</a:t>
            </a:r>
            <a:endParaRPr kumimoji="0" lang="pt-BR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1737360" y="6382512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50" b="0" i="0" u="none" strike="noStrike" kern="1200" cap="none" spc="0" normalizeH="0" baseline="0" noProof="0" dirty="0">
                <a:ln>
                  <a:noFill/>
                </a:ln>
                <a:solidFill>
                  <a:srgbClr val="B99CAE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Apresentação Final do Projeto</a:t>
            </a:r>
            <a:endParaRPr kumimoji="0" lang="pt-BR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00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ostinder_content_bg_dim.jpg"/>
          <p:cNvPicPr>
            <a:picLocks noChangeAspect="1"/>
          </p:cNvPicPr>
          <p:nvPr/>
        </p:nvPicPr>
        <p:blipFill>
          <a:blip r:embed="rId3"/>
          <a:srcRect l="1" r="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8368" y="566928"/>
            <a:ext cx="1737360" cy="338328"/>
          </a:xfrm>
          <a:prstGeom prst="rect">
            <a:avLst/>
          </a:prstGeom>
          <a:solidFill>
            <a:srgbClr val="EF3F93"/>
          </a:solidFill>
          <a:ln>
            <a:solidFill>
              <a:srgbClr val="EF3F93">
                <a:alpha val="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03 · JORNADA</a:t>
            </a:r>
            <a:endParaRPr kumimoji="0" lang="pt-BR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" name="Shape 1"/>
          <p:cNvSpPr/>
          <p:nvPr/>
        </p:nvSpPr>
        <p:spPr>
          <a:xfrm>
            <a:off x="658368" y="1197864"/>
            <a:ext cx="73152" cy="1389888"/>
          </a:xfrm>
          <a:prstGeom prst="rect">
            <a:avLst/>
          </a:prstGeom>
          <a:solidFill>
            <a:srgbClr val="EF3F93"/>
          </a:solidFill>
          <a:ln w="12700">
            <a:solidFill>
              <a:srgbClr val="EF3F93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" name="Text 2"/>
          <p:cNvSpPr/>
          <p:nvPr/>
        </p:nvSpPr>
        <p:spPr>
          <a:xfrm>
            <a:off x="950976" y="1060704"/>
            <a:ext cx="5029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4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Jornada do cliente</a:t>
            </a:r>
            <a:endParaRPr kumimoji="0" lang="pt-BR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" name="Text 3"/>
          <p:cNvSpPr/>
          <p:nvPr/>
        </p:nvSpPr>
        <p:spPr>
          <a:xfrm>
            <a:off x="950976" y="1810512"/>
            <a:ext cx="4754880" cy="749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500" b="1" i="0" u="none" strike="noStrike" kern="1200" cap="none" spc="0" normalizeH="0" baseline="0" noProof="0" dirty="0">
                <a:ln>
                  <a:noFill/>
                </a:ln>
                <a:solidFill>
                  <a:srgbClr val="F166AA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 postagem enviada à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500" b="1" i="0" u="none" strike="noStrike" kern="1200" cap="none" spc="0" normalizeH="0" baseline="0" noProof="0" dirty="0">
                <a:ln>
                  <a:noFill/>
                </a:ln>
                <a:solidFill>
                  <a:srgbClr val="F166AA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decisão registrada.</a:t>
            </a:r>
            <a:endParaRPr kumimoji="0" lang="pt-BR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8" name="Shape 5"/>
          <p:cNvSpPr/>
          <p:nvPr/>
        </p:nvSpPr>
        <p:spPr>
          <a:xfrm>
            <a:off x="658368" y="2840320"/>
            <a:ext cx="10875264" cy="3125032"/>
          </a:xfrm>
          <a:prstGeom prst="roundRect">
            <a:avLst/>
          </a:prstGeom>
          <a:solidFill>
            <a:srgbClr val="FFFFFF">
              <a:alpha val="6000"/>
            </a:srgbClr>
          </a:solidFill>
          <a:ln w="10160">
            <a:solidFill>
              <a:srgbClr val="EF3F93">
                <a:alpha val="1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9" name="Text 6"/>
          <p:cNvSpPr/>
          <p:nvPr/>
        </p:nvSpPr>
        <p:spPr>
          <a:xfrm>
            <a:off x="4887682" y="2961779"/>
            <a:ext cx="2436636" cy="291366"/>
          </a:xfrm>
          <a:prstGeom prst="rect">
            <a:avLst/>
          </a:prstGeom>
          <a:solidFill>
            <a:srgbClr val="FFFFFF">
              <a:alpha val="9000"/>
            </a:srgbClr>
          </a:solidFill>
          <a:ln w="8890">
            <a:solidFill>
              <a:srgbClr val="EF3F93">
                <a:alpha val="55000"/>
              </a:srgbClr>
            </a:solidFill>
          </a:ln>
        </p:spPr>
        <p:txBody>
          <a:bodyPr wrap="square" lIns="127" tIns="127" rIns="127" bIns="127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000" b="1" i="0" u="none" strike="noStrike" kern="1200" cap="none" spc="0" normalizeH="0" baseline="0" noProof="0" dirty="0">
                <a:ln>
                  <a:noFill/>
                </a:ln>
                <a:solidFill>
                  <a:srgbClr val="F7C3DC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fluxo de aprovação</a:t>
            </a:r>
            <a:endParaRPr kumimoji="0" lang="pt-BR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0" name="Step Box 1"/>
          <p:cNvSpPr/>
          <p:nvPr/>
        </p:nvSpPr>
        <p:spPr>
          <a:xfrm>
            <a:off x="978368" y="3488845"/>
            <a:ext cx="2348816" cy="700000"/>
          </a:xfrm>
          <a:prstGeom prst="roundRect">
            <a:avLst/>
          </a:prstGeom>
          <a:solidFill>
            <a:srgbClr val="FFFFFF">
              <a:alpha val="12000"/>
            </a:srgbClr>
          </a:solidFill>
          <a:ln w="13970">
            <a:solidFill>
              <a:srgbClr val="EF3F93">
                <a:alpha val="80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1" name="Step Num 1"/>
          <p:cNvSpPr/>
          <p:nvPr/>
        </p:nvSpPr>
        <p:spPr>
          <a:xfrm>
            <a:off x="1108368" y="3724545"/>
            <a:ext cx="300000" cy="228600"/>
          </a:xfrm>
          <a:prstGeom prst="rect">
            <a:avLst/>
          </a:prstGeom>
          <a:solidFill>
            <a:srgbClr val="EF3F93"/>
          </a:solidFill>
          <a:ln>
            <a:solidFill>
              <a:srgbClr val="EF3F93">
                <a:alpha val="0"/>
              </a:srgbClr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2" name="Step Label 1"/>
          <p:cNvSpPr/>
          <p:nvPr/>
        </p:nvSpPr>
        <p:spPr>
          <a:xfrm>
            <a:off x="1538368" y="3488845"/>
            <a:ext cx="1658816" cy="7000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Agência envia</a:t>
            </a:r>
            <a:endParaRPr kumimoji="0" lang="pt-BR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3" name="Step Box 2"/>
          <p:cNvSpPr/>
          <p:nvPr/>
        </p:nvSpPr>
        <p:spPr>
          <a:xfrm>
            <a:off x="3607184" y="3488845"/>
            <a:ext cx="2348816" cy="700000"/>
          </a:xfrm>
          <a:prstGeom prst="roundRect">
            <a:avLst/>
          </a:prstGeom>
          <a:solidFill>
            <a:srgbClr val="FFFFFF">
              <a:alpha val="12000"/>
            </a:srgbClr>
          </a:solidFill>
          <a:ln w="13970">
            <a:solidFill>
              <a:srgbClr val="EF3F93">
                <a:alpha val="80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4" name="Step Num 2"/>
          <p:cNvSpPr/>
          <p:nvPr/>
        </p:nvSpPr>
        <p:spPr>
          <a:xfrm>
            <a:off x="3737184" y="3724545"/>
            <a:ext cx="300000" cy="228600"/>
          </a:xfrm>
          <a:prstGeom prst="rect">
            <a:avLst/>
          </a:prstGeom>
          <a:solidFill>
            <a:srgbClr val="EF3F93"/>
          </a:solidFill>
          <a:ln>
            <a:solidFill>
              <a:srgbClr val="EF3F93">
                <a:alpha val="0"/>
              </a:srgbClr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5" name="Step Label 2"/>
          <p:cNvSpPr/>
          <p:nvPr/>
        </p:nvSpPr>
        <p:spPr>
          <a:xfrm>
            <a:off x="4167184" y="3488845"/>
            <a:ext cx="1938816" cy="7000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Cliente acessa</a:t>
            </a:r>
            <a:endParaRPr kumimoji="0" lang="pt-BR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6" name="Step Box 3"/>
          <p:cNvSpPr/>
          <p:nvPr/>
        </p:nvSpPr>
        <p:spPr>
          <a:xfrm>
            <a:off x="6236000" y="3488845"/>
            <a:ext cx="2348816" cy="700000"/>
          </a:xfrm>
          <a:prstGeom prst="roundRect">
            <a:avLst/>
          </a:prstGeom>
          <a:solidFill>
            <a:srgbClr val="FFFFFF">
              <a:alpha val="12000"/>
            </a:srgbClr>
          </a:solidFill>
          <a:ln w="13970">
            <a:solidFill>
              <a:srgbClr val="EF3F93">
                <a:alpha val="80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7" name="Step Num 3"/>
          <p:cNvSpPr/>
          <p:nvPr/>
        </p:nvSpPr>
        <p:spPr>
          <a:xfrm>
            <a:off x="6366000" y="3724545"/>
            <a:ext cx="300000" cy="228600"/>
          </a:xfrm>
          <a:prstGeom prst="rect">
            <a:avLst/>
          </a:prstGeom>
          <a:solidFill>
            <a:srgbClr val="EF3F93"/>
          </a:solidFill>
          <a:ln>
            <a:solidFill>
              <a:srgbClr val="EF3F93">
                <a:alpha val="0"/>
              </a:srgbClr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8" name="Step Label 3"/>
          <p:cNvSpPr/>
          <p:nvPr/>
        </p:nvSpPr>
        <p:spPr>
          <a:xfrm>
            <a:off x="6796000" y="3488845"/>
            <a:ext cx="1658816" cy="7000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Visualiza</a:t>
            </a:r>
            <a:endParaRPr kumimoji="0" lang="pt-BR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9" name="Step Box 4"/>
          <p:cNvSpPr/>
          <p:nvPr/>
        </p:nvSpPr>
        <p:spPr>
          <a:xfrm>
            <a:off x="8864816" y="3488845"/>
            <a:ext cx="2348816" cy="700000"/>
          </a:xfrm>
          <a:prstGeom prst="roundRect">
            <a:avLst/>
          </a:prstGeom>
          <a:solidFill>
            <a:srgbClr val="A7014B">
              <a:alpha val="97000"/>
            </a:srgbClr>
          </a:solidFill>
          <a:ln w="20320">
            <a:solidFill>
              <a:srgbClr val="FF3F9B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0" name="Step Num 4"/>
          <p:cNvSpPr/>
          <p:nvPr/>
        </p:nvSpPr>
        <p:spPr>
          <a:xfrm>
            <a:off x="8994816" y="3724545"/>
            <a:ext cx="300000" cy="228600"/>
          </a:xfrm>
          <a:prstGeom prst="rect">
            <a:avLst/>
          </a:prstGeom>
          <a:solidFill>
            <a:srgbClr val="EF3F93"/>
          </a:solidFill>
          <a:ln>
            <a:solidFill>
              <a:srgbClr val="EF3F93">
                <a:alpha val="0"/>
              </a:srgbClr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1" name="Step Label 4"/>
          <p:cNvSpPr/>
          <p:nvPr/>
        </p:nvSpPr>
        <p:spPr>
          <a:xfrm>
            <a:off x="9424816" y="3488845"/>
            <a:ext cx="1658816" cy="7000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Decide</a:t>
            </a:r>
            <a:endParaRPr kumimoji="0" lang="pt-BR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2" name="Step Arrow 1"/>
          <p:cNvSpPr/>
          <p:nvPr/>
        </p:nvSpPr>
        <p:spPr>
          <a:xfrm>
            <a:off x="3327184" y="3838845"/>
            <a:ext cx="280000" cy="0"/>
          </a:xfrm>
          <a:prstGeom prst="line">
            <a:avLst/>
          </a:prstGeom>
          <a:noFill/>
          <a:ln w="27940">
            <a:solidFill>
              <a:srgbClr val="FF3F9B">
                <a:alpha val="92000"/>
              </a:srgbClr>
            </a:solidFill>
            <a:prstDash val="solid"/>
            <a:headEnd type="none"/>
            <a:tailEnd type="triangl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3" name="Step Arrow 2"/>
          <p:cNvSpPr/>
          <p:nvPr/>
        </p:nvSpPr>
        <p:spPr>
          <a:xfrm>
            <a:off x="5956000" y="3838845"/>
            <a:ext cx="280000" cy="0"/>
          </a:xfrm>
          <a:prstGeom prst="line">
            <a:avLst/>
          </a:prstGeom>
          <a:noFill/>
          <a:ln w="27940">
            <a:solidFill>
              <a:srgbClr val="FF3F9B">
                <a:alpha val="92000"/>
              </a:srgbClr>
            </a:solidFill>
            <a:prstDash val="solid"/>
            <a:headEnd type="none"/>
            <a:tailEnd type="triangl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4" name="Step Arrow 3"/>
          <p:cNvSpPr/>
          <p:nvPr/>
        </p:nvSpPr>
        <p:spPr>
          <a:xfrm>
            <a:off x="8584816" y="3838845"/>
            <a:ext cx="280000" cy="0"/>
          </a:xfrm>
          <a:prstGeom prst="line">
            <a:avLst/>
          </a:prstGeom>
          <a:noFill/>
          <a:ln w="27940">
            <a:solidFill>
              <a:srgbClr val="FF3F9B">
                <a:alpha val="92000"/>
              </a:srgbClr>
            </a:solidFill>
            <a:prstDash val="solid"/>
            <a:headEnd type="none"/>
            <a:tailEnd type="triangl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1" name="Text 28"/>
          <p:cNvSpPr/>
          <p:nvPr/>
        </p:nvSpPr>
        <p:spPr>
          <a:xfrm>
            <a:off x="978368" y="4571651"/>
            <a:ext cx="1060704" cy="310896"/>
          </a:xfrm>
          <a:prstGeom prst="rect">
            <a:avLst/>
          </a:prstGeom>
          <a:solidFill>
            <a:srgbClr val="FFFFFF">
              <a:alpha val="10000"/>
            </a:srgbClr>
          </a:solidFill>
          <a:ln w="11430">
            <a:solidFill>
              <a:srgbClr val="EF3F93">
                <a:alpha val="6800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600" b="1" i="0" u="none" strike="noStrike" kern="1200" cap="none" spc="0" normalizeH="0" baseline="0" noProof="0" dirty="0">
                <a:ln>
                  <a:noFill/>
                </a:ln>
                <a:solidFill>
                  <a:srgbClr val="F8DCEB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Aprovar</a:t>
            </a:r>
            <a:endParaRPr kumimoji="0" lang="pt-BR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2" name="Text 29"/>
          <p:cNvSpPr/>
          <p:nvPr/>
        </p:nvSpPr>
        <p:spPr>
          <a:xfrm>
            <a:off x="2276816" y="4571651"/>
            <a:ext cx="1225296" cy="310896"/>
          </a:xfrm>
          <a:prstGeom prst="rect">
            <a:avLst/>
          </a:prstGeom>
          <a:solidFill>
            <a:srgbClr val="FFFFFF">
              <a:alpha val="10000"/>
            </a:srgbClr>
          </a:solidFill>
          <a:ln w="11430">
            <a:solidFill>
              <a:srgbClr val="EF3F93">
                <a:alpha val="6800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600" b="1" i="0" u="none" strike="noStrike" kern="1200" cap="none" spc="0" normalizeH="0" baseline="0" noProof="0" dirty="0">
                <a:ln>
                  <a:noFill/>
                </a:ln>
                <a:solidFill>
                  <a:srgbClr val="F8DCEB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Pedir ajuste</a:t>
            </a:r>
            <a:endParaRPr kumimoji="0" lang="pt-BR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3" name="Text 30"/>
          <p:cNvSpPr/>
          <p:nvPr/>
        </p:nvSpPr>
        <p:spPr>
          <a:xfrm>
            <a:off x="3739856" y="4571651"/>
            <a:ext cx="1060704" cy="310896"/>
          </a:xfrm>
          <a:prstGeom prst="rect">
            <a:avLst/>
          </a:prstGeom>
          <a:solidFill>
            <a:srgbClr val="A7014B">
              <a:alpha val="92000"/>
            </a:srgbClr>
          </a:solidFill>
          <a:ln w="13970">
            <a:solidFill>
              <a:srgbClr val="FF3F9B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600" b="1" i="0" u="none" strike="noStrike" kern="1200" cap="none" spc="0" normalizeH="0" baseline="0" noProof="0" dirty="0">
                <a:ln>
                  <a:noFill/>
                </a:ln>
                <a:solidFill>
                  <a:srgbClr val="F8DCEB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Adorei</a:t>
            </a:r>
            <a:endParaRPr kumimoji="0" lang="pt-BR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4" name="Text 31"/>
          <p:cNvSpPr/>
          <p:nvPr/>
        </p:nvSpPr>
        <p:spPr>
          <a:xfrm>
            <a:off x="5100560" y="4388771"/>
            <a:ext cx="6113072" cy="676656"/>
          </a:xfrm>
          <a:prstGeom prst="rect">
            <a:avLst/>
          </a:prstGeom>
          <a:solidFill>
            <a:srgbClr val="FFFFFF">
              <a:alpha val="10000"/>
            </a:srgbClr>
          </a:solidFill>
          <a:ln w="13970">
            <a:solidFill>
              <a:srgbClr val="EF3F93">
                <a:alpha val="7800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05  Feedback registrado</a:t>
            </a:r>
            <a:endParaRPr kumimoji="0" lang="pt-B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5" name="Text 32"/>
          <p:cNvSpPr/>
          <p:nvPr/>
        </p:nvSpPr>
        <p:spPr>
          <a:xfrm>
            <a:off x="978368" y="5265352"/>
            <a:ext cx="10235264" cy="480000"/>
          </a:xfrm>
          <a:prstGeom prst="rect">
            <a:avLst/>
          </a:prstGeom>
          <a:solidFill>
            <a:srgbClr val="A7014B">
              <a:alpha val="78000"/>
            </a:srgbClr>
          </a:solidFill>
          <a:ln w="12700">
            <a:solidFill>
              <a:srgbClr val="FF3F9B">
                <a:alpha val="90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000" b="1" i="0" u="none" strike="noStrike" kern="1200" cap="none" spc="0" normalizeH="0" baseline="0" noProof="0" dirty="0">
                <a:ln>
                  <a:noFill/>
                </a:ln>
                <a:solidFill>
                  <a:srgbClr val="F5DBE8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Jornada simples para o cliente. Processo rastreável para a empresa.</a:t>
            </a:r>
            <a:endParaRPr kumimoji="0" lang="pt-BR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6" name="Text 33"/>
          <p:cNvSpPr/>
          <p:nvPr/>
        </p:nvSpPr>
        <p:spPr>
          <a:xfrm>
            <a:off x="6711696" y="1164286"/>
            <a:ext cx="4529328" cy="1176771"/>
          </a:xfrm>
          <a:prstGeom prst="rect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EF3F93">
                <a:alpha val="65000"/>
              </a:srgbClr>
            </a:solidFill>
          </a:ln>
        </p:spPr>
        <p:txBody>
          <a:bodyPr wrap="square" lIns="1016" tIns="1016" rIns="1016" bIns="1016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000" b="1" i="0" u="none" strike="noStrike" kern="1200" cap="none" spc="0" normalizeH="0" baseline="0" noProof="0" dirty="0">
                <a:ln>
                  <a:noFill/>
                </a:ln>
                <a:solidFill>
                  <a:srgbClr val="F5DBE8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Na prática, a aprovação deixa de ser uma conversa perdida e passa a ser uma trilha clara de decisão.</a:t>
            </a:r>
            <a:endParaRPr kumimoji="0" lang="pt-BR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</a:endParaRPr>
          </a:p>
        </p:txBody>
      </p:sp>
      <p:sp>
        <p:nvSpPr>
          <p:cNvPr id="37" name="Shape 34"/>
          <p:cNvSpPr/>
          <p:nvPr/>
        </p:nvSpPr>
        <p:spPr>
          <a:xfrm>
            <a:off x="658368" y="6245352"/>
            <a:ext cx="10853928" cy="0"/>
          </a:xfrm>
          <a:prstGeom prst="line">
            <a:avLst/>
          </a:prstGeom>
          <a:noFill/>
          <a:ln w="10160">
            <a:solidFill>
              <a:srgbClr val="EF3F93">
                <a:alpha val="34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8" name="Text 35"/>
          <p:cNvSpPr/>
          <p:nvPr/>
        </p:nvSpPr>
        <p:spPr>
          <a:xfrm>
            <a:off x="658368" y="6382512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50" b="1" i="0" u="none" strike="noStrike" kern="1200" cap="none" spc="0" normalizeH="0" baseline="0" noProof="0" dirty="0" err="1">
                <a:ln>
                  <a:noFill/>
                </a:ln>
                <a:solidFill>
                  <a:srgbClr val="F4D3E4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Postinder</a:t>
            </a:r>
            <a:endParaRPr kumimoji="0" lang="pt-BR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9" name="Text 36"/>
          <p:cNvSpPr/>
          <p:nvPr/>
        </p:nvSpPr>
        <p:spPr>
          <a:xfrm>
            <a:off x="1737360" y="6382512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50" b="0" i="0" u="none" strike="noStrike" kern="1200" cap="none" spc="0" normalizeH="0" baseline="0" noProof="0" dirty="0">
                <a:ln>
                  <a:noFill/>
                </a:ln>
                <a:solidFill>
                  <a:srgbClr val="B99CAE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Apresentação Final do Projeto</a:t>
            </a:r>
            <a:endParaRPr kumimoji="0" lang="pt-BR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  <p:bldP spid="3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05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high_resolution_abstract_futuristic_tech_backgro.png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11" name="Badge 11"/>
          <p:cNvSpPr/>
          <p:nvPr/>
        </p:nvSpPr>
        <p:spPr>
          <a:xfrm>
            <a:off x="658368" y="566928"/>
            <a:ext cx="1828800" cy="347472"/>
          </a:xfrm>
          <a:prstGeom prst="rect">
            <a:avLst/>
          </a:prstGeom>
          <a:solidFill>
            <a:srgbClr val="EC3C93"/>
          </a:solidFill>
          <a:ln w="12700">
            <a:solidFill>
              <a:srgbClr val="EC3C9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2" name="Text 12"/>
          <p:cNvSpPr txBox="1"/>
          <p:nvPr/>
        </p:nvSpPr>
        <p:spPr>
          <a:xfrm>
            <a:off x="658368" y="566928"/>
            <a:ext cx="1828800" cy="34747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Aptos"/>
              </a:rPr>
              <a:t>04 · DIFERENCIAIS</a:t>
            </a:r>
          </a:p>
        </p:txBody>
      </p:sp>
      <p:sp>
        <p:nvSpPr>
          <p:cNvPr id="13" name="Text 13"/>
          <p:cNvSpPr txBox="1"/>
          <p:nvPr/>
        </p:nvSpPr>
        <p:spPr>
          <a:xfrm>
            <a:off x="658367" y="955000"/>
            <a:ext cx="10874959" cy="65000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 Display"/>
                <a:ea typeface="+mn-ea"/>
                <a:cs typeface="Aptos Display"/>
              </a:rPr>
              <a:t>Por que fechar com o </a:t>
            </a:r>
            <a:r>
              <a:rPr kumimoji="0" lang="pt-BR" sz="3600" b="1" i="0" u="none" strike="noStrike" kern="1200" cap="none" spc="0" normalizeH="0" baseline="0" noProof="0" dirty="0">
                <a:ln>
                  <a:noFill/>
                </a:ln>
                <a:solidFill>
                  <a:srgbClr val="FF72B6"/>
                </a:solidFill>
                <a:effectLst/>
                <a:uLnTx/>
                <a:uFillTx/>
                <a:latin typeface="Aptos Display"/>
                <a:ea typeface="+mn-ea"/>
                <a:cs typeface="Aptos Display"/>
              </a:rPr>
              <a:t>Postinder</a:t>
            </a:r>
            <a:r>
              <a:rPr kumimoji="0" lang="pt-BR" sz="3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 Display"/>
                <a:ea typeface="+mn-ea"/>
                <a:cs typeface="Aptos Display"/>
              </a:rPr>
              <a:t>?</a:t>
            </a:r>
          </a:p>
        </p:txBody>
      </p:sp>
      <p:sp>
        <p:nvSpPr>
          <p:cNvPr id="14" name="Text 14"/>
          <p:cNvSpPr txBox="1"/>
          <p:nvPr/>
        </p:nvSpPr>
        <p:spPr>
          <a:xfrm>
            <a:off x="658367" y="1565000"/>
            <a:ext cx="9500000" cy="4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800" b="1" i="0" u="none" strike="noStrike" kern="1200" cap="none" spc="0" normalizeH="0" baseline="0" noProof="0" dirty="0">
                <a:ln>
                  <a:noFill/>
                </a:ln>
                <a:solidFill>
                  <a:srgbClr val="F7D7E5">
                    <a:alpha val="88000"/>
                  </a:srgbClr>
                </a:solidFill>
                <a:effectLst/>
                <a:uLnTx/>
                <a:uFillTx/>
                <a:latin typeface="Aptos"/>
                <a:ea typeface="+mn-ea"/>
                <a:cs typeface="Aptos"/>
              </a:rPr>
              <a:t>Quatro motivos que pesam na hora de decidir.</a:t>
            </a:r>
          </a:p>
        </p:txBody>
      </p:sp>
      <p:sp>
        <p:nvSpPr>
          <p:cNvPr id="15" name="Shape 15"/>
          <p:cNvSpPr/>
          <p:nvPr/>
        </p:nvSpPr>
        <p:spPr>
          <a:xfrm>
            <a:off x="658368" y="2150000"/>
            <a:ext cx="5247479" cy="1860000"/>
          </a:xfrm>
          <a:prstGeom prst="roundRect">
            <a:avLst>
              <a:gd name="adj" fmla="val 6000"/>
            </a:avLst>
          </a:prstGeom>
          <a:solidFill>
            <a:srgbClr val="FFFFFF">
              <a:alpha val="8000"/>
            </a:srgbClr>
          </a:solidFill>
          <a:ln w="10160">
            <a:solidFill>
              <a:srgbClr val="EC3C93">
                <a:alpha val="50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6" name="Circle 16"/>
          <p:cNvSpPr/>
          <p:nvPr/>
        </p:nvSpPr>
        <p:spPr>
          <a:xfrm>
            <a:off x="748368" y="2240000"/>
            <a:ext cx="620000" cy="620000"/>
          </a:xfrm>
          <a:prstGeom prst="ellipse">
            <a:avLst/>
          </a:prstGeom>
          <a:solidFill>
            <a:srgbClr val="EC3C93"/>
          </a:solidFill>
          <a:ln>
            <a:noFill/>
          </a:ln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7" name="Text 17"/>
          <p:cNvSpPr txBox="1"/>
          <p:nvPr/>
        </p:nvSpPr>
        <p:spPr>
          <a:xfrm>
            <a:off x="748368" y="2240000"/>
            <a:ext cx="620000" cy="62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Aptos"/>
              </a:rPr>
              <a:t>01</a:t>
            </a:r>
          </a:p>
        </p:txBody>
      </p:sp>
      <p:sp>
        <p:nvSpPr>
          <p:cNvPr id="18" name="Text 18"/>
          <p:cNvSpPr txBox="1"/>
          <p:nvPr/>
        </p:nvSpPr>
        <p:spPr>
          <a:xfrm>
            <a:off x="1428367" y="2390000"/>
            <a:ext cx="4387479" cy="5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Aptos"/>
              </a:rPr>
              <a:t>Experiência simples</a:t>
            </a:r>
          </a:p>
        </p:txBody>
      </p:sp>
      <p:sp>
        <p:nvSpPr>
          <p:cNvPr id="19" name="Text 19"/>
          <p:cNvSpPr txBox="1"/>
          <p:nvPr/>
        </p:nvSpPr>
        <p:spPr>
          <a:xfrm>
            <a:off x="748368" y="2920000"/>
            <a:ext cx="5067479" cy="10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000" b="0" i="0" u="none" strike="noStrike" kern="1200" cap="none" spc="0" normalizeH="0" baseline="0" noProof="0" dirty="0">
                <a:ln>
                  <a:noFill/>
                </a:ln>
                <a:solidFill>
                  <a:srgbClr val="F6EAF1">
                    <a:alpha val="90000"/>
                  </a:srgbClr>
                </a:solidFill>
                <a:effectLst/>
                <a:uLnTx/>
                <a:uFillTx/>
                <a:latin typeface="Aptos"/>
                <a:ea typeface="+mn-ea"/>
                <a:cs typeface="Aptos"/>
              </a:rPr>
              <a:t>O cliente aprova em poucos cliques, sem curva de aprendizado.</a:t>
            </a:r>
          </a:p>
        </p:txBody>
      </p:sp>
      <p:sp>
        <p:nvSpPr>
          <p:cNvPr id="20" name="Shape 20"/>
          <p:cNvSpPr/>
          <p:nvPr/>
        </p:nvSpPr>
        <p:spPr>
          <a:xfrm>
            <a:off x="6285847" y="2150000"/>
            <a:ext cx="5247479" cy="1860000"/>
          </a:xfrm>
          <a:prstGeom prst="roundRect">
            <a:avLst>
              <a:gd name="adj" fmla="val 6000"/>
            </a:avLst>
          </a:prstGeom>
          <a:solidFill>
            <a:srgbClr val="FFFFFF">
              <a:alpha val="8000"/>
            </a:srgbClr>
          </a:solidFill>
          <a:ln w="10160">
            <a:solidFill>
              <a:srgbClr val="EC3C93">
                <a:alpha val="50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1" name="Circle 21"/>
          <p:cNvSpPr/>
          <p:nvPr/>
        </p:nvSpPr>
        <p:spPr>
          <a:xfrm>
            <a:off x="6375847" y="2240000"/>
            <a:ext cx="620000" cy="620000"/>
          </a:xfrm>
          <a:prstGeom prst="ellipse">
            <a:avLst/>
          </a:prstGeom>
          <a:solidFill>
            <a:srgbClr val="EC3C93"/>
          </a:solidFill>
          <a:ln>
            <a:noFill/>
          </a:ln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2" name="Text 22"/>
          <p:cNvSpPr txBox="1"/>
          <p:nvPr/>
        </p:nvSpPr>
        <p:spPr>
          <a:xfrm>
            <a:off x="6375847" y="2240000"/>
            <a:ext cx="620000" cy="62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Aptos"/>
              </a:rPr>
              <a:t>02</a:t>
            </a:r>
          </a:p>
        </p:txBody>
      </p:sp>
      <p:sp>
        <p:nvSpPr>
          <p:cNvPr id="23" name="Text 23"/>
          <p:cNvSpPr txBox="1"/>
          <p:nvPr/>
        </p:nvSpPr>
        <p:spPr>
          <a:xfrm>
            <a:off x="7145847" y="2380106"/>
            <a:ext cx="4387479" cy="5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Aptos"/>
              </a:rPr>
              <a:t>Fluxo adaptável</a:t>
            </a:r>
          </a:p>
        </p:txBody>
      </p:sp>
      <p:sp>
        <p:nvSpPr>
          <p:cNvPr id="24" name="Text 24"/>
          <p:cNvSpPr txBox="1"/>
          <p:nvPr/>
        </p:nvSpPr>
        <p:spPr>
          <a:xfrm>
            <a:off x="6375847" y="2920000"/>
            <a:ext cx="5067479" cy="10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000" b="0" i="0" u="none" strike="noStrike" kern="1200" cap="none" spc="0" normalizeH="0" baseline="0" noProof="0" dirty="0">
                <a:ln>
                  <a:noFill/>
                </a:ln>
                <a:solidFill>
                  <a:srgbClr val="F6EAF1">
                    <a:alpha val="90000"/>
                  </a:srgbClr>
                </a:solidFill>
                <a:effectLst/>
                <a:uLnTx/>
                <a:uFillTx/>
                <a:latin typeface="Aptos"/>
                <a:ea typeface="+mn-ea"/>
                <a:cs typeface="Aptos"/>
              </a:rPr>
              <a:t>Se ajusta ao processo que a sua agência já usa hoje.</a:t>
            </a:r>
          </a:p>
        </p:txBody>
      </p:sp>
      <p:sp>
        <p:nvSpPr>
          <p:cNvPr id="25" name="Shape 25"/>
          <p:cNvSpPr/>
          <p:nvPr/>
        </p:nvSpPr>
        <p:spPr>
          <a:xfrm>
            <a:off x="658368" y="4390000"/>
            <a:ext cx="5247479" cy="1860000"/>
          </a:xfrm>
          <a:prstGeom prst="roundRect">
            <a:avLst>
              <a:gd name="adj" fmla="val 6000"/>
            </a:avLst>
          </a:prstGeom>
          <a:solidFill>
            <a:srgbClr val="FFFFFF">
              <a:alpha val="8000"/>
            </a:srgbClr>
          </a:solidFill>
          <a:ln w="10160">
            <a:solidFill>
              <a:srgbClr val="EC3C93">
                <a:alpha val="50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6" name="Circle 26"/>
          <p:cNvSpPr/>
          <p:nvPr/>
        </p:nvSpPr>
        <p:spPr>
          <a:xfrm>
            <a:off x="748368" y="4480000"/>
            <a:ext cx="620000" cy="620000"/>
          </a:xfrm>
          <a:prstGeom prst="ellipse">
            <a:avLst/>
          </a:prstGeom>
          <a:solidFill>
            <a:srgbClr val="EC3C93"/>
          </a:solidFill>
          <a:ln>
            <a:noFill/>
          </a:ln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7" name="Text 27"/>
          <p:cNvSpPr txBox="1"/>
          <p:nvPr/>
        </p:nvSpPr>
        <p:spPr>
          <a:xfrm>
            <a:off x="748368" y="4480000"/>
            <a:ext cx="620000" cy="62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Aptos"/>
              </a:rPr>
              <a:t>03</a:t>
            </a:r>
          </a:p>
        </p:txBody>
      </p:sp>
      <p:sp>
        <p:nvSpPr>
          <p:cNvPr id="28" name="Text 28"/>
          <p:cNvSpPr txBox="1"/>
          <p:nvPr/>
        </p:nvSpPr>
        <p:spPr>
          <a:xfrm>
            <a:off x="1518367" y="4626114"/>
            <a:ext cx="4387479" cy="5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Aptos"/>
              </a:rPr>
              <a:t>Histórico preservado</a:t>
            </a:r>
          </a:p>
        </p:txBody>
      </p:sp>
      <p:sp>
        <p:nvSpPr>
          <p:cNvPr id="29" name="Text 29"/>
          <p:cNvSpPr txBox="1"/>
          <p:nvPr/>
        </p:nvSpPr>
        <p:spPr>
          <a:xfrm>
            <a:off x="748368" y="5160000"/>
            <a:ext cx="5067479" cy="10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000" b="0" i="0" u="none" strike="noStrike" kern="1200" cap="none" spc="0" normalizeH="0" baseline="0" noProof="0" dirty="0">
                <a:ln>
                  <a:noFill/>
                </a:ln>
                <a:solidFill>
                  <a:srgbClr val="F6EAF1">
                    <a:alpha val="90000"/>
                  </a:srgbClr>
                </a:solidFill>
                <a:effectLst/>
                <a:uLnTx/>
                <a:uFillTx/>
                <a:latin typeface="Aptos"/>
                <a:ea typeface="+mn-ea"/>
                <a:cs typeface="Aptos"/>
              </a:rPr>
              <a:t>Nada se perde: toda decisão fica registrada e rastreável.</a:t>
            </a:r>
          </a:p>
        </p:txBody>
      </p:sp>
      <p:sp>
        <p:nvSpPr>
          <p:cNvPr id="30" name="Shape 30"/>
          <p:cNvSpPr/>
          <p:nvPr/>
        </p:nvSpPr>
        <p:spPr>
          <a:xfrm>
            <a:off x="6285847" y="4390000"/>
            <a:ext cx="5247479" cy="1860000"/>
          </a:xfrm>
          <a:prstGeom prst="roundRect">
            <a:avLst>
              <a:gd name="adj" fmla="val 6000"/>
            </a:avLst>
          </a:prstGeom>
          <a:solidFill>
            <a:srgbClr val="FFFFFF">
              <a:alpha val="8000"/>
            </a:srgbClr>
          </a:solidFill>
          <a:ln w="10160">
            <a:solidFill>
              <a:srgbClr val="EC3C93">
                <a:alpha val="50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1" name="Circle 31"/>
          <p:cNvSpPr/>
          <p:nvPr/>
        </p:nvSpPr>
        <p:spPr>
          <a:xfrm>
            <a:off x="6375847" y="4480000"/>
            <a:ext cx="620000" cy="620000"/>
          </a:xfrm>
          <a:prstGeom prst="ellipse">
            <a:avLst/>
          </a:prstGeom>
          <a:solidFill>
            <a:srgbClr val="EC3C93"/>
          </a:solidFill>
          <a:ln>
            <a:noFill/>
          </a:ln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2" name="Text 32"/>
          <p:cNvSpPr txBox="1"/>
          <p:nvPr/>
        </p:nvSpPr>
        <p:spPr>
          <a:xfrm>
            <a:off x="6375847" y="4480000"/>
            <a:ext cx="620000" cy="62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Aptos"/>
              </a:rPr>
              <a:t>04</a:t>
            </a:r>
          </a:p>
        </p:txBody>
      </p:sp>
      <p:sp>
        <p:nvSpPr>
          <p:cNvPr id="33" name="Text 33"/>
          <p:cNvSpPr txBox="1"/>
          <p:nvPr/>
        </p:nvSpPr>
        <p:spPr>
          <a:xfrm>
            <a:off x="7145846" y="4588792"/>
            <a:ext cx="4387479" cy="5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Aptos"/>
              </a:rPr>
              <a:t>Centralização</a:t>
            </a:r>
          </a:p>
        </p:txBody>
      </p:sp>
      <p:sp>
        <p:nvSpPr>
          <p:cNvPr id="34" name="Text 34"/>
          <p:cNvSpPr txBox="1"/>
          <p:nvPr/>
        </p:nvSpPr>
        <p:spPr>
          <a:xfrm>
            <a:off x="6375847" y="5160000"/>
            <a:ext cx="5067479" cy="10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000" b="0" i="0" u="none" strike="noStrike" kern="1200" cap="none" spc="0" normalizeH="0" baseline="0" noProof="0" dirty="0">
                <a:ln>
                  <a:noFill/>
                </a:ln>
                <a:solidFill>
                  <a:srgbClr val="F6EAF1">
                    <a:alpha val="90000"/>
                  </a:srgbClr>
                </a:solidFill>
                <a:effectLst/>
                <a:uLnTx/>
                <a:uFillTx/>
                <a:latin typeface="Aptos"/>
                <a:ea typeface="+mn-ea"/>
                <a:cs typeface="Aptos"/>
              </a:rPr>
              <a:t>Uma fonte única de verdade para toda a equipe consultar.</a:t>
            </a:r>
          </a:p>
        </p:txBody>
      </p:sp>
      <p:sp>
        <p:nvSpPr>
          <p:cNvPr id="35" name="Text 35"/>
          <p:cNvSpPr txBox="1"/>
          <p:nvPr/>
        </p:nvSpPr>
        <p:spPr>
          <a:xfrm>
            <a:off x="658368" y="6446520"/>
            <a:ext cx="1005840" cy="146304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1" i="0" u="none" strike="noStrike" kern="1200" cap="none" spc="0" normalizeH="0" baseline="0" noProof="0" dirty="0">
                <a:ln>
                  <a:noFill/>
                </a:ln>
                <a:solidFill>
                  <a:srgbClr val="F6EAF1"/>
                </a:solidFill>
                <a:effectLst/>
                <a:uLnTx/>
                <a:uFillTx/>
                <a:latin typeface="Aptos"/>
                <a:ea typeface="+mn-ea"/>
                <a:cs typeface="Aptos"/>
              </a:rPr>
              <a:t>Postinder</a:t>
            </a:r>
          </a:p>
        </p:txBody>
      </p:sp>
      <p:sp>
        <p:nvSpPr>
          <p:cNvPr id="36" name="Text 36"/>
          <p:cNvSpPr txBox="1"/>
          <p:nvPr/>
        </p:nvSpPr>
        <p:spPr>
          <a:xfrm>
            <a:off x="1737360" y="6446520"/>
            <a:ext cx="2377440" cy="146304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00" b="0" i="0" u="none" strike="noStrike" kern="1200" cap="none" spc="0" normalizeH="0" baseline="0" noProof="0" dirty="0">
                <a:ln>
                  <a:noFill/>
                </a:ln>
                <a:solidFill>
                  <a:srgbClr val="F7D7E5">
                    <a:alpha val="75000"/>
                  </a:srgbClr>
                </a:solidFill>
                <a:effectLst/>
                <a:uLnTx/>
                <a:uFillTx/>
                <a:latin typeface="Aptos"/>
                <a:ea typeface="+mn-ea"/>
                <a:cs typeface="Aptos"/>
              </a:rPr>
              <a:t>Apresentação Final do Projeto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Video apresentação">
            <a:hlinkClick r:id="" action="ppaction://media"/>
            <a:extLst>
              <a:ext uri="{FF2B5EF4-FFF2-40B4-BE49-F238E27FC236}">
                <a16:creationId xmlns:a16="http://schemas.microsoft.com/office/drawing/2014/main" id="{F7179AF4-F1BB-EB48-D26E-32FE282D84AF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1" name="Badge 21"/>
          <p:cNvSpPr/>
          <p:nvPr/>
        </p:nvSpPr>
        <p:spPr>
          <a:xfrm>
            <a:off x="658368" y="566928"/>
            <a:ext cx="1828800" cy="347472"/>
          </a:xfrm>
          <a:prstGeom prst="rect">
            <a:avLst/>
          </a:prstGeom>
          <a:solidFill>
            <a:srgbClr val="EC3C93"/>
          </a:solidFill>
          <a:ln w="12700">
            <a:solidFill>
              <a:srgbClr val="EC3C93"/>
            </a:solidFill>
            <a:prstDash val="solid"/>
          </a:ln>
        </p:spPr>
        <p:txBody>
          <a:bodyPr/>
          <a:lstStyle/>
          <a:p>
            <a:pPr marL="0" marR="0" lvl="0" indent="0" algn="l"/>
            <a:endParaRPr lang="pt-BR" sz="1800" dirty="0"/>
          </a:p>
        </p:txBody>
      </p:sp>
      <p:sp>
        <p:nvSpPr>
          <p:cNvPr id="22" name="Text 22"/>
          <p:cNvSpPr txBox="1"/>
          <p:nvPr/>
        </p:nvSpPr>
        <p:spPr>
          <a:xfrm>
            <a:off x="658368" y="566928"/>
            <a:ext cx="1828800" cy="34747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>
              <a:lnSpc>
                <a:spcPct val="100000"/>
              </a:lnSpc>
            </a:pPr>
            <a:r>
              <a:rPr lang="pt-BR" sz="1000" b="1" i="0" dirty="0">
                <a:solidFill>
                  <a:srgbClr val="FFFFFF"/>
                </a:solidFill>
                <a:latin typeface="Aptos"/>
                <a:cs typeface="Aptos"/>
              </a:rPr>
              <a:t>05 · DEMONSTRAÇÃO</a:t>
            </a:r>
          </a:p>
        </p:txBody>
      </p:sp>
      <p:sp>
        <p:nvSpPr>
          <p:cNvPr id="23" name="CaptionBar 23"/>
          <p:cNvSpPr/>
          <p:nvPr/>
        </p:nvSpPr>
        <p:spPr>
          <a:xfrm>
            <a:off x="0" y="6250000"/>
            <a:ext cx="12191695" cy="608000"/>
          </a:xfrm>
          <a:prstGeom prst="rect">
            <a:avLst/>
          </a:prstGeom>
          <a:solidFill>
            <a:srgbClr val="0A0209">
              <a:alpha val="55000"/>
            </a:srgbClr>
          </a:solidFill>
          <a:ln>
            <a:noFill/>
          </a:ln>
        </p:spPr>
        <p:txBody>
          <a:bodyPr/>
          <a:lstStyle/>
          <a:p>
            <a:pPr marL="0" marR="0" lvl="0" indent="0" algn="l"/>
            <a:endParaRPr lang="pt-BR" sz="1800" dirty="0"/>
          </a:p>
        </p:txBody>
      </p:sp>
      <p:sp>
        <p:nvSpPr>
          <p:cNvPr id="24" name="Text 24"/>
          <p:cNvSpPr txBox="1"/>
          <p:nvPr/>
        </p:nvSpPr>
        <p:spPr>
          <a:xfrm>
            <a:off x="658368" y="6250000"/>
            <a:ext cx="10874959" cy="608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lang="pt-BR" sz="1300" b="1" i="0" dirty="0">
                <a:solidFill>
                  <a:srgbClr val="F6EAF1">
                    <a:alpha val="92000"/>
                  </a:srgbClr>
                </a:solidFill>
                <a:latin typeface="Aptos"/>
                <a:cs typeface="Aptos"/>
              </a:rPr>
              <a:t>Postinder em ação — do envio à aprovação, em um único fluxo.</a:t>
            </a:r>
          </a:p>
        </p:txBody>
      </p:sp>
    </p:spTree>
    <p:extLst>
      <p:ext uri="{BB962C8B-B14F-4D97-AF65-F5344CB8AC3E}">
        <p14:creationId xmlns:p14="http://schemas.microsoft.com/office/powerpoint/2010/main" val="16666606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7566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05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high_resolution_abstract_futuristic_tech_backgro.png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11" name="Badge 11"/>
          <p:cNvSpPr/>
          <p:nvPr/>
        </p:nvSpPr>
        <p:spPr>
          <a:xfrm>
            <a:off x="658368" y="566928"/>
            <a:ext cx="1828800" cy="347472"/>
          </a:xfrm>
          <a:prstGeom prst="rect">
            <a:avLst/>
          </a:prstGeom>
          <a:solidFill>
            <a:srgbClr val="EC3C93"/>
          </a:solidFill>
          <a:ln w="12700">
            <a:solidFill>
              <a:srgbClr val="EC3C9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2" name="Text 12"/>
          <p:cNvSpPr txBox="1"/>
          <p:nvPr/>
        </p:nvSpPr>
        <p:spPr>
          <a:xfrm>
            <a:off x="658368" y="566928"/>
            <a:ext cx="1828800" cy="34747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Aptos"/>
              </a:rPr>
              <a:t>06 · GANHOS</a:t>
            </a:r>
          </a:p>
        </p:txBody>
      </p:sp>
      <p:sp>
        <p:nvSpPr>
          <p:cNvPr id="13" name="Text 13"/>
          <p:cNvSpPr txBox="1"/>
          <p:nvPr/>
        </p:nvSpPr>
        <p:spPr>
          <a:xfrm>
            <a:off x="658368" y="872416"/>
            <a:ext cx="10874959" cy="65000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 Display"/>
                <a:ea typeface="+mn-ea"/>
                <a:cs typeface="Aptos Display"/>
              </a:rPr>
              <a:t>O que a agência ganha?</a:t>
            </a:r>
          </a:p>
        </p:txBody>
      </p:sp>
      <p:sp>
        <p:nvSpPr>
          <p:cNvPr id="14" name="Text 14"/>
          <p:cNvSpPr txBox="1"/>
          <p:nvPr/>
        </p:nvSpPr>
        <p:spPr>
          <a:xfrm>
            <a:off x="658368" y="1500000"/>
            <a:ext cx="9500000" cy="4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400" b="1" i="0" u="none" strike="noStrike" kern="1200" cap="none" spc="0" normalizeH="0" baseline="0" noProof="0" dirty="0">
                <a:ln>
                  <a:noFill/>
                </a:ln>
                <a:solidFill>
                  <a:srgbClr val="F7D7E5">
                    <a:alpha val="88000"/>
                  </a:srgbClr>
                </a:solidFill>
                <a:effectLst/>
                <a:uLnTx/>
                <a:uFillTx/>
                <a:latin typeface="Aptos"/>
                <a:ea typeface="+mn-ea"/>
                <a:cs typeface="Aptos"/>
              </a:rPr>
              <a:t>A mesma equipe. Um processo completamente diferente.</a:t>
            </a:r>
          </a:p>
        </p:txBody>
      </p:sp>
      <p:sp>
        <p:nvSpPr>
          <p:cNvPr id="15" name="Shape 15"/>
          <p:cNvSpPr/>
          <p:nvPr/>
        </p:nvSpPr>
        <p:spPr>
          <a:xfrm>
            <a:off x="658368" y="2150000"/>
            <a:ext cx="5077479" cy="3200000"/>
          </a:xfrm>
          <a:prstGeom prst="roundRect">
            <a:avLst>
              <a:gd name="adj" fmla="val 5000"/>
            </a:avLst>
          </a:prstGeom>
          <a:solidFill>
            <a:srgbClr val="FFFFFF">
              <a:alpha val="5000"/>
            </a:srgbClr>
          </a:solidFill>
          <a:ln w="10160">
            <a:solidFill>
              <a:srgbClr val="F7D7E5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6" name="Text 16"/>
          <p:cNvSpPr txBox="1"/>
          <p:nvPr/>
        </p:nvSpPr>
        <p:spPr>
          <a:xfrm>
            <a:off x="958368" y="2410000"/>
            <a:ext cx="4477479" cy="4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600" b="1" i="0" u="none" strike="noStrike" kern="1200" cap="none" spc="0" normalizeH="0" baseline="0" noProof="0" dirty="0">
                <a:ln>
                  <a:noFill/>
                </a:ln>
                <a:solidFill>
                  <a:srgbClr val="F7D7E5">
                    <a:alpha val="60000"/>
                  </a:srgbClr>
                </a:solidFill>
                <a:effectLst/>
                <a:uLnTx/>
                <a:uFillTx/>
                <a:latin typeface="Aptos"/>
                <a:ea typeface="+mn-ea"/>
                <a:cs typeface="Aptos"/>
              </a:rPr>
              <a:t>ANTES</a:t>
            </a:r>
          </a:p>
        </p:txBody>
      </p:sp>
      <p:sp>
        <p:nvSpPr>
          <p:cNvPr id="17" name="Text 17"/>
          <p:cNvSpPr txBox="1"/>
          <p:nvPr/>
        </p:nvSpPr>
        <p:spPr>
          <a:xfrm>
            <a:off x="958368" y="3000000"/>
            <a:ext cx="260000" cy="3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000" b="1" i="0" u="none" strike="noStrike" kern="1200" cap="none" spc="0" normalizeH="0" baseline="0" noProof="0" dirty="0">
                <a:ln>
                  <a:noFill/>
                </a:ln>
                <a:solidFill>
                  <a:srgbClr val="F7D7E5">
                    <a:alpha val="55000"/>
                  </a:srgbClr>
                </a:solidFill>
                <a:effectLst/>
                <a:uLnTx/>
                <a:uFillTx/>
                <a:latin typeface="Aptos"/>
                <a:ea typeface="+mn-ea"/>
                <a:cs typeface="Aptos"/>
              </a:rPr>
              <a:t>–</a:t>
            </a:r>
          </a:p>
        </p:txBody>
      </p:sp>
      <p:sp>
        <p:nvSpPr>
          <p:cNvPr id="18" name="Text 18"/>
          <p:cNvSpPr txBox="1"/>
          <p:nvPr/>
        </p:nvSpPr>
        <p:spPr>
          <a:xfrm>
            <a:off x="1218368" y="3000000"/>
            <a:ext cx="4217479" cy="5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000" b="0" i="0" u="none" strike="noStrike" kern="1200" cap="none" spc="0" normalizeH="0" baseline="0" noProof="0" dirty="0">
                <a:ln>
                  <a:noFill/>
                </a:ln>
                <a:solidFill>
                  <a:srgbClr val="F6EAF1">
                    <a:alpha val="75000"/>
                  </a:srgbClr>
                </a:solidFill>
                <a:effectLst/>
                <a:uLnTx/>
                <a:uFillTx/>
                <a:latin typeface="Aptos"/>
                <a:ea typeface="+mn-ea"/>
                <a:cs typeface="Aptos"/>
              </a:rPr>
              <a:t>Mensagens perdidas no WhatsApp</a:t>
            </a:r>
          </a:p>
        </p:txBody>
      </p:sp>
      <p:sp>
        <p:nvSpPr>
          <p:cNvPr id="19" name="Text 19"/>
          <p:cNvSpPr txBox="1"/>
          <p:nvPr/>
        </p:nvSpPr>
        <p:spPr>
          <a:xfrm>
            <a:off x="958368" y="3780000"/>
            <a:ext cx="260000" cy="3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000" b="1" i="0" u="none" strike="noStrike" kern="1200" cap="none" spc="0" normalizeH="0" baseline="0" noProof="0" dirty="0">
                <a:ln>
                  <a:noFill/>
                </a:ln>
                <a:solidFill>
                  <a:srgbClr val="F7D7E5">
                    <a:alpha val="55000"/>
                  </a:srgbClr>
                </a:solidFill>
                <a:effectLst/>
                <a:uLnTx/>
                <a:uFillTx/>
                <a:latin typeface="Aptos"/>
                <a:ea typeface="+mn-ea"/>
                <a:cs typeface="Aptos"/>
              </a:rPr>
              <a:t>–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1218368" y="3780000"/>
            <a:ext cx="4217479" cy="5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000" b="0" i="0" u="none" strike="noStrike" kern="1200" cap="none" spc="0" normalizeH="0" baseline="0" noProof="0" dirty="0">
                <a:ln>
                  <a:noFill/>
                </a:ln>
                <a:solidFill>
                  <a:srgbClr val="F6EAF1">
                    <a:alpha val="75000"/>
                  </a:srgbClr>
                </a:solidFill>
                <a:effectLst/>
                <a:uLnTx/>
                <a:uFillTx/>
                <a:latin typeface="Aptos"/>
                <a:ea typeface="+mn-ea"/>
                <a:cs typeface="Aptos"/>
              </a:rPr>
              <a:t>Retrabalho por falta de clareza</a:t>
            </a:r>
          </a:p>
        </p:txBody>
      </p:sp>
      <p:sp>
        <p:nvSpPr>
          <p:cNvPr id="21" name="Text 21"/>
          <p:cNvSpPr txBox="1"/>
          <p:nvPr/>
        </p:nvSpPr>
        <p:spPr>
          <a:xfrm>
            <a:off x="958368" y="4560000"/>
            <a:ext cx="260000" cy="3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000" b="1" i="0" u="none" strike="noStrike" kern="1200" cap="none" spc="0" normalizeH="0" baseline="0" noProof="0" dirty="0">
                <a:ln>
                  <a:noFill/>
                </a:ln>
                <a:solidFill>
                  <a:srgbClr val="F7D7E5">
                    <a:alpha val="55000"/>
                  </a:srgbClr>
                </a:solidFill>
                <a:effectLst/>
                <a:uLnTx/>
                <a:uFillTx/>
                <a:latin typeface="Aptos"/>
                <a:ea typeface="+mn-ea"/>
                <a:cs typeface="Aptos"/>
              </a:rPr>
              <a:t>–</a:t>
            </a:r>
          </a:p>
        </p:txBody>
      </p:sp>
      <p:sp>
        <p:nvSpPr>
          <p:cNvPr id="22" name="Text 22"/>
          <p:cNvSpPr txBox="1"/>
          <p:nvPr/>
        </p:nvSpPr>
        <p:spPr>
          <a:xfrm>
            <a:off x="1218368" y="4560000"/>
            <a:ext cx="4217479" cy="5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000" b="0" i="0" u="none" strike="noStrike" kern="1200" cap="none" spc="0" normalizeH="0" baseline="0" noProof="0" dirty="0">
                <a:ln>
                  <a:noFill/>
                </a:ln>
                <a:solidFill>
                  <a:srgbClr val="F6EAF1">
                    <a:alpha val="75000"/>
                  </a:srgbClr>
                </a:solidFill>
                <a:effectLst/>
                <a:uLnTx/>
                <a:uFillTx/>
                <a:latin typeface="Aptos"/>
                <a:ea typeface="+mn-ea"/>
                <a:cs typeface="Aptos"/>
              </a:rPr>
              <a:t>Sem controle sobre o que foi aprovado</a:t>
            </a:r>
          </a:p>
        </p:txBody>
      </p:sp>
      <p:sp>
        <p:nvSpPr>
          <p:cNvPr id="23" name="Shape 23"/>
          <p:cNvSpPr/>
          <p:nvPr/>
        </p:nvSpPr>
        <p:spPr>
          <a:xfrm>
            <a:off x="6455847" y="2150000"/>
            <a:ext cx="5077479" cy="3200000"/>
          </a:xfrm>
          <a:prstGeom prst="roundRect">
            <a:avLst>
              <a:gd name="adj" fmla="val 5000"/>
            </a:avLst>
          </a:prstGeom>
          <a:solidFill>
            <a:srgbClr val="EC3C93">
              <a:alpha val="12000"/>
            </a:srgbClr>
          </a:solidFill>
          <a:ln w="14000">
            <a:solidFill>
              <a:srgbClr val="EC3C93">
                <a:alpha val="75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4" name="Text 24"/>
          <p:cNvSpPr txBox="1"/>
          <p:nvPr/>
        </p:nvSpPr>
        <p:spPr>
          <a:xfrm>
            <a:off x="6755847" y="2410000"/>
            <a:ext cx="4477479" cy="4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600" b="1" i="0" u="none" strike="noStrike" kern="1200" cap="none" spc="0" normalizeH="0" baseline="0" noProof="0" dirty="0">
                <a:ln>
                  <a:noFill/>
                </a:ln>
                <a:solidFill>
                  <a:srgbClr val="FF72B6"/>
                </a:solidFill>
                <a:effectLst/>
                <a:uLnTx/>
                <a:uFillTx/>
                <a:latin typeface="Aptos"/>
                <a:ea typeface="+mn-ea"/>
                <a:cs typeface="Aptos"/>
              </a:rPr>
              <a:t>DEPOIS</a:t>
            </a:r>
          </a:p>
        </p:txBody>
      </p:sp>
      <p:sp>
        <p:nvSpPr>
          <p:cNvPr id="25" name="Text 25"/>
          <p:cNvSpPr txBox="1"/>
          <p:nvPr/>
        </p:nvSpPr>
        <p:spPr>
          <a:xfrm>
            <a:off x="6755847" y="3000000"/>
            <a:ext cx="260000" cy="3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000" b="1" i="0" u="none" strike="noStrike" kern="1200" cap="none" spc="0" normalizeH="0" baseline="0" noProof="0" dirty="0">
                <a:ln>
                  <a:noFill/>
                </a:ln>
                <a:solidFill>
                  <a:srgbClr val="FF72B6"/>
                </a:solidFill>
                <a:effectLst/>
                <a:uLnTx/>
                <a:uFillTx/>
                <a:latin typeface="Aptos"/>
                <a:ea typeface="+mn-ea"/>
                <a:cs typeface="Aptos"/>
              </a:rPr>
              <a:t>✓</a:t>
            </a:r>
          </a:p>
        </p:txBody>
      </p:sp>
      <p:sp>
        <p:nvSpPr>
          <p:cNvPr id="26" name="Text 26"/>
          <p:cNvSpPr txBox="1"/>
          <p:nvPr/>
        </p:nvSpPr>
        <p:spPr>
          <a:xfrm>
            <a:off x="7015847" y="3000000"/>
            <a:ext cx="4217479" cy="5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Aptos"/>
              </a:rPr>
              <a:t>Aprovação centralizada e rastreável</a:t>
            </a:r>
          </a:p>
        </p:txBody>
      </p:sp>
      <p:sp>
        <p:nvSpPr>
          <p:cNvPr id="27" name="Text 27"/>
          <p:cNvSpPr txBox="1"/>
          <p:nvPr/>
        </p:nvSpPr>
        <p:spPr>
          <a:xfrm>
            <a:off x="6755847" y="3780000"/>
            <a:ext cx="260000" cy="3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000" b="1" i="0" u="none" strike="noStrike" kern="1200" cap="none" spc="0" normalizeH="0" baseline="0" noProof="0" dirty="0">
                <a:ln>
                  <a:noFill/>
                </a:ln>
                <a:solidFill>
                  <a:srgbClr val="FF72B6"/>
                </a:solidFill>
                <a:effectLst/>
                <a:uLnTx/>
                <a:uFillTx/>
                <a:latin typeface="Aptos"/>
                <a:ea typeface="+mn-ea"/>
                <a:cs typeface="Aptos"/>
              </a:rPr>
              <a:t>✓</a:t>
            </a:r>
          </a:p>
        </p:txBody>
      </p:sp>
      <p:sp>
        <p:nvSpPr>
          <p:cNvPr id="28" name="Text 28"/>
          <p:cNvSpPr txBox="1"/>
          <p:nvPr/>
        </p:nvSpPr>
        <p:spPr>
          <a:xfrm>
            <a:off x="7015847" y="3780000"/>
            <a:ext cx="4217479" cy="5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Aptos"/>
              </a:rPr>
              <a:t>Menos retrabalho, mais agilidade</a:t>
            </a:r>
          </a:p>
        </p:txBody>
      </p:sp>
      <p:sp>
        <p:nvSpPr>
          <p:cNvPr id="29" name="Text 29"/>
          <p:cNvSpPr txBox="1"/>
          <p:nvPr/>
        </p:nvSpPr>
        <p:spPr>
          <a:xfrm>
            <a:off x="6755847" y="4560000"/>
            <a:ext cx="260000" cy="3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000" b="1" i="0" u="none" strike="noStrike" kern="1200" cap="none" spc="0" normalizeH="0" baseline="0" noProof="0" dirty="0">
                <a:ln>
                  <a:noFill/>
                </a:ln>
                <a:solidFill>
                  <a:srgbClr val="FF72B6"/>
                </a:solidFill>
                <a:effectLst/>
                <a:uLnTx/>
                <a:uFillTx/>
                <a:latin typeface="Aptos"/>
                <a:ea typeface="+mn-ea"/>
                <a:cs typeface="Aptos"/>
              </a:rPr>
              <a:t>✓</a:t>
            </a:r>
          </a:p>
        </p:txBody>
      </p:sp>
      <p:sp>
        <p:nvSpPr>
          <p:cNvPr id="30" name="Text 30"/>
          <p:cNvSpPr txBox="1"/>
          <p:nvPr/>
        </p:nvSpPr>
        <p:spPr>
          <a:xfrm>
            <a:off x="7015847" y="4560000"/>
            <a:ext cx="4217479" cy="5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Aptos"/>
              </a:rPr>
              <a:t>Histórico completo de decisões</a:t>
            </a:r>
          </a:p>
        </p:txBody>
      </p:sp>
      <p:sp>
        <p:nvSpPr>
          <p:cNvPr id="31" name="Circle 31"/>
          <p:cNvSpPr/>
          <p:nvPr/>
        </p:nvSpPr>
        <p:spPr>
          <a:xfrm>
            <a:off x="5815847" y="3470000"/>
            <a:ext cx="560000" cy="560000"/>
          </a:xfrm>
          <a:prstGeom prst="ellipse">
            <a:avLst/>
          </a:prstGeom>
          <a:solidFill>
            <a:srgbClr val="EC3C93"/>
          </a:solidFill>
          <a:ln>
            <a:noFill/>
          </a:ln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2" name="Text 32"/>
          <p:cNvSpPr txBox="1"/>
          <p:nvPr/>
        </p:nvSpPr>
        <p:spPr>
          <a:xfrm>
            <a:off x="5815847" y="3470000"/>
            <a:ext cx="560000" cy="56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Aptos"/>
              </a:rPr>
              <a:t>→</a:t>
            </a:r>
          </a:p>
        </p:txBody>
      </p:sp>
      <p:sp>
        <p:nvSpPr>
          <p:cNvPr id="33" name="Shape 33"/>
          <p:cNvSpPr/>
          <p:nvPr/>
        </p:nvSpPr>
        <p:spPr>
          <a:xfrm>
            <a:off x="658368" y="5600000"/>
            <a:ext cx="10874959" cy="480000"/>
          </a:xfrm>
          <a:prstGeom prst="roundRect">
            <a:avLst>
              <a:gd name="adj" fmla="val 15000"/>
            </a:avLst>
          </a:prstGeom>
          <a:solidFill>
            <a:srgbClr val="FFFFFF">
              <a:alpha val="6000"/>
            </a:srgbClr>
          </a:solidFill>
          <a:ln w="8000">
            <a:solidFill>
              <a:srgbClr val="EC3C93">
                <a:alpha val="35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4" name="Text 34"/>
          <p:cNvSpPr txBox="1"/>
          <p:nvPr/>
        </p:nvSpPr>
        <p:spPr>
          <a:xfrm>
            <a:off x="958368" y="5600000"/>
            <a:ext cx="10274959" cy="48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Aptos"/>
              </a:rPr>
              <a:t>Resultado: menos ruído, mais controle sobre cada aprovação.</a:t>
            </a:r>
          </a:p>
        </p:txBody>
      </p:sp>
      <p:sp>
        <p:nvSpPr>
          <p:cNvPr id="35" name="Text 35"/>
          <p:cNvSpPr txBox="1"/>
          <p:nvPr/>
        </p:nvSpPr>
        <p:spPr>
          <a:xfrm>
            <a:off x="658368" y="6446520"/>
            <a:ext cx="1005840" cy="146304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1" i="0" u="none" strike="noStrike" kern="1200" cap="none" spc="0" normalizeH="0" baseline="0" noProof="0" dirty="0">
                <a:ln>
                  <a:noFill/>
                </a:ln>
                <a:solidFill>
                  <a:srgbClr val="F6EAF1"/>
                </a:solidFill>
                <a:effectLst/>
                <a:uLnTx/>
                <a:uFillTx/>
                <a:latin typeface="Aptos"/>
                <a:ea typeface="+mn-ea"/>
                <a:cs typeface="Aptos"/>
              </a:rPr>
              <a:t>Postinder</a:t>
            </a:r>
          </a:p>
        </p:txBody>
      </p:sp>
      <p:sp>
        <p:nvSpPr>
          <p:cNvPr id="36" name="Text 36"/>
          <p:cNvSpPr txBox="1"/>
          <p:nvPr/>
        </p:nvSpPr>
        <p:spPr>
          <a:xfrm>
            <a:off x="1737360" y="6446520"/>
            <a:ext cx="2377440" cy="146304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00" b="0" i="0" u="none" strike="noStrike" kern="1200" cap="none" spc="0" normalizeH="0" baseline="0" noProof="0" dirty="0">
                <a:ln>
                  <a:noFill/>
                </a:ln>
                <a:solidFill>
                  <a:srgbClr val="F7D7E5">
                    <a:alpha val="75000"/>
                  </a:srgbClr>
                </a:solidFill>
                <a:effectLst/>
                <a:uLnTx/>
                <a:uFillTx/>
                <a:latin typeface="Aptos"/>
                <a:ea typeface="+mn-ea"/>
                <a:cs typeface="Aptos"/>
              </a:rPr>
              <a:t>Apresentação Final do Projeto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 animBg="1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 animBg="1"/>
      <p:bldP spid="32" grpId="0"/>
      <p:bldP spid="33" grpId="0" animBg="1"/>
      <p:bldP spid="34" grpId="0" build="allAtOnce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00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Image 0"/>
          <p:cNvPicPr>
            <a:picLocks noChangeAspect="1"/>
          </p:cNvPicPr>
          <p:nvPr/>
        </p:nvPicPr>
        <p:blipFill>
          <a:blip r:embed="rId3"/>
          <a:srcRect l="1" r="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F9DBCFB3-FF9A-4A32-9E1A-9317931CC627}"/>
              </a:ext>
            </a:extLst>
          </p:cNvPr>
          <p:cNvSpPr>
            <a:spLocks noGrp="1"/>
          </p:cNvSpPr>
          <p:nvPr/>
        </p:nvSpPr>
        <p:spPr>
          <a:xfrm>
            <a:off x="658368" y="566928"/>
            <a:ext cx="1737360" cy="338328"/>
          </a:xfrm>
          <a:prstGeom prst="rect">
            <a:avLst/>
          </a:prstGeom>
          <a:solidFill>
            <a:srgbClr val="EF3F93"/>
          </a:solidFill>
          <a:ln>
            <a:solidFill>
              <a:srgbClr val="EF3F93">
                <a:alpha val="0"/>
              </a:srgbClr>
            </a:solidFill>
          </a:ln>
        </p:spPr>
        <p:txBody>
          <a:bodyPr wrap="square" lIns="254" tIns="254" rIns="254" bIns="254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Aptos"/>
                <a:cs typeface="Aptos"/>
              </a:rPr>
              <a:t>06 · TECNOLOGIA</a:t>
            </a:r>
            <a:endParaRPr kumimoji="0" sz="10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Aptos"/>
              <a:cs typeface="Aptos"/>
            </a:endParaRPr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20466E65-B23E-46D0-A36F-C4FB83115943}"/>
              </a:ext>
            </a:extLst>
          </p:cNvPr>
          <p:cNvSpPr>
            <a:spLocks noGrp="1"/>
          </p:cNvSpPr>
          <p:nvPr/>
        </p:nvSpPr>
        <p:spPr>
          <a:xfrm>
            <a:off x="658368" y="1197864"/>
            <a:ext cx="73152" cy="1389888"/>
          </a:xfrm>
          <a:prstGeom prst="rect">
            <a:avLst/>
          </a:prstGeom>
          <a:solidFill>
            <a:srgbClr val="EF3F93"/>
          </a:solidFill>
          <a:ln w="12700">
            <a:solidFill>
              <a:srgbClr val="EF3F93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Aptos"/>
              <a:cs typeface="Aptos"/>
            </a:endParaRP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159DDE41-D6D5-44F6-B2C3-3452F7B846B3}"/>
              </a:ext>
            </a:extLst>
          </p:cNvPr>
          <p:cNvSpPr>
            <a:spLocks noGrp="1"/>
          </p:cNvSpPr>
          <p:nvPr/>
        </p:nvSpPr>
        <p:spPr>
          <a:xfrm>
            <a:off x="950976" y="1060704"/>
            <a:ext cx="10262616" cy="69494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 Display"/>
                <a:ea typeface="Aptos Display"/>
                <a:cs typeface="Aptos Display"/>
              </a:rPr>
              <a:t>Como construímos o Postinder</a:t>
            </a:r>
            <a:endParaRPr kumimoji="0" sz="4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Aptos"/>
              <a:cs typeface="Aptos"/>
            </a:endParaRP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9E409CA6-020F-4D28-8950-C90181E5B00A}"/>
              </a:ext>
            </a:extLst>
          </p:cNvPr>
          <p:cNvSpPr>
            <a:spLocks noGrp="1"/>
          </p:cNvSpPr>
          <p:nvPr/>
        </p:nvSpPr>
        <p:spPr>
          <a:xfrm>
            <a:off x="950976" y="1810512"/>
            <a:ext cx="10262616" cy="749808"/>
          </a:xfrm>
          <a:prstGeom prst="rect">
            <a:avLst/>
          </a:prstGeom>
          <a:noFill/>
        </p:spPr>
        <p:txBody>
          <a:bodyPr wrap="square" lIns="254" tIns="254" rIns="254" bIns="254" anchor="ctr">
            <a:normAutofit lnSpcReduction="1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500" b="1" i="0" u="none" strike="noStrike" kern="1200" cap="none" spc="0" normalizeH="0" baseline="0" noProof="0">
                <a:ln>
                  <a:noFill/>
                </a:ln>
                <a:solidFill>
                  <a:srgbClr val="F166AA"/>
                </a:solidFill>
                <a:effectLst/>
                <a:uLnTx/>
                <a:uFillTx/>
                <a:latin typeface="Aptos Display"/>
                <a:ea typeface="Aptos Display"/>
                <a:cs typeface="Aptos Display"/>
              </a:rPr>
              <a:t>Arquitetura web simples, segura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500" b="1" i="0" u="none" strike="noStrike" kern="1200" cap="none" spc="0" normalizeH="0" baseline="0" noProof="0">
                <a:ln>
                  <a:noFill/>
                </a:ln>
                <a:solidFill>
                  <a:srgbClr val="F166AA"/>
                </a:solidFill>
                <a:effectLst/>
                <a:uLnTx/>
                <a:uFillTx/>
                <a:latin typeface="Aptos Display"/>
                <a:ea typeface="Aptos Display"/>
                <a:cs typeface="Aptos Display"/>
              </a:rPr>
              <a:t>e preparada para a nuvem.</a:t>
            </a:r>
            <a:endParaRPr kumimoji="0" sz="25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Aptos"/>
              <a:cs typeface="Aptos"/>
            </a:endParaRPr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242F51B5-5617-4AC4-9217-7C5E3E011444}"/>
              </a:ext>
            </a:extLst>
          </p:cNvPr>
          <p:cNvSpPr>
            <a:spLocks noGrp="1"/>
          </p:cNvSpPr>
          <p:nvPr/>
        </p:nvSpPr>
        <p:spPr>
          <a:xfrm>
            <a:off x="658368" y="2840320"/>
            <a:ext cx="10875264" cy="3125032"/>
          </a:xfrm>
          <a:prstGeom prst="roundRect">
            <a:avLst/>
          </a:prstGeom>
          <a:solidFill>
            <a:srgbClr val="FFFFFF">
              <a:alpha val="6000"/>
            </a:srgbClr>
          </a:solidFill>
          <a:ln w="10160">
            <a:solidFill>
              <a:srgbClr val="EF3F93">
                <a:alpha val="1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Aptos"/>
              <a:cs typeface="Aptos"/>
            </a:endParaRPr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0C9BF56A-7214-4AB5-BD4A-94A5E3D48DCF}"/>
              </a:ext>
            </a:extLst>
          </p:cNvPr>
          <p:cNvSpPr>
            <a:spLocks noGrp="1"/>
          </p:cNvSpPr>
          <p:nvPr/>
        </p:nvSpPr>
        <p:spPr>
          <a:xfrm>
            <a:off x="4887682" y="2961779"/>
            <a:ext cx="2436636" cy="291366"/>
          </a:xfrm>
          <a:prstGeom prst="rect">
            <a:avLst/>
          </a:prstGeom>
          <a:solidFill>
            <a:srgbClr val="FFFFFF">
              <a:alpha val="9000"/>
            </a:srgbClr>
          </a:solidFill>
          <a:ln w="8890">
            <a:solidFill>
              <a:srgbClr val="EF3F93">
                <a:alpha val="55000"/>
              </a:srgbClr>
            </a:solidFill>
          </a:ln>
        </p:spPr>
        <p:txBody>
          <a:bodyPr wrap="square" lIns="127" tIns="127" rIns="127" bIns="127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1" i="0" u="none" strike="noStrike" kern="1200" cap="none" spc="0" normalizeH="0" baseline="0" noProof="0">
                <a:ln>
                  <a:noFill/>
                </a:ln>
                <a:solidFill>
                  <a:srgbClr val="F7C3DC"/>
                </a:solidFill>
                <a:effectLst/>
                <a:uLnTx/>
                <a:uFillTx/>
                <a:latin typeface="Aptos"/>
                <a:ea typeface="Aptos"/>
                <a:cs typeface="Aptos"/>
              </a:rPr>
              <a:t>arquitetura web</a:t>
            </a: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Aptos"/>
              <a:cs typeface="Aptos"/>
            </a:endParaRPr>
          </a:p>
        </p:txBody>
      </p:sp>
      <p:sp>
        <p:nvSpPr>
          <p:cNvPr id="40" name="Step Box 1">
            <a:extLst>
              <a:ext uri="{FF2B5EF4-FFF2-40B4-BE49-F238E27FC236}">
                <a16:creationId xmlns:a16="http://schemas.microsoft.com/office/drawing/2014/main" id="{D40AA73B-F9CC-4A19-A5FD-EB95C211016A}"/>
              </a:ext>
            </a:extLst>
          </p:cNvPr>
          <p:cNvSpPr>
            <a:spLocks noGrp="1"/>
          </p:cNvSpPr>
          <p:nvPr/>
        </p:nvSpPr>
        <p:spPr>
          <a:xfrm>
            <a:off x="809625" y="3429000"/>
            <a:ext cx="3238500" cy="914400"/>
          </a:xfrm>
          <a:prstGeom prst="roundRect">
            <a:avLst/>
          </a:prstGeom>
          <a:noFill/>
          <a:ln w="13970">
            <a:solidFill>
              <a:srgbClr val="EF3F93">
                <a:alpha val="80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Aptos"/>
              <a:cs typeface="Aptos"/>
            </a:endParaRPr>
          </a:p>
        </p:txBody>
      </p:sp>
      <p:sp>
        <p:nvSpPr>
          <p:cNvPr id="41" name="Step Num 1">
            <a:extLst>
              <a:ext uri="{FF2B5EF4-FFF2-40B4-BE49-F238E27FC236}">
                <a16:creationId xmlns:a16="http://schemas.microsoft.com/office/drawing/2014/main" id="{EBB5BECC-EBDE-462F-AF64-92EA3B9BEA5A}"/>
              </a:ext>
            </a:extLst>
          </p:cNvPr>
          <p:cNvSpPr>
            <a:spLocks noGrp="1"/>
          </p:cNvSpPr>
          <p:nvPr/>
        </p:nvSpPr>
        <p:spPr>
          <a:xfrm>
            <a:off x="942975" y="3771900"/>
            <a:ext cx="323850" cy="228600"/>
          </a:xfrm>
          <a:prstGeom prst="rect">
            <a:avLst/>
          </a:prstGeom>
          <a:solidFill>
            <a:srgbClr val="EF3F93"/>
          </a:solidFill>
          <a:ln>
            <a:solidFill>
              <a:srgbClr val="EF3F93">
                <a:alpha val="0"/>
              </a:srgbClr>
            </a:solidFill>
          </a:ln>
        </p:spPr>
        <p:txBody>
          <a:bodyPr wrap="square" lIns="127" tIns="127" rIns="127" bIns="127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6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Aptos"/>
                <a:cs typeface="Aptos"/>
              </a:rPr>
              <a:t>01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Aptos"/>
              <a:cs typeface="Aptos"/>
            </a:endParaRPr>
          </a:p>
        </p:txBody>
      </p:sp>
      <p:sp>
        <p:nvSpPr>
          <p:cNvPr id="42" name="Step Label 1">
            <a:extLst>
              <a:ext uri="{FF2B5EF4-FFF2-40B4-BE49-F238E27FC236}">
                <a16:creationId xmlns:a16="http://schemas.microsoft.com/office/drawing/2014/main" id="{C535DF57-84D9-49C1-856A-38BD66793F66}"/>
              </a:ext>
            </a:extLst>
          </p:cNvPr>
          <p:cNvSpPr>
            <a:spLocks noGrp="1"/>
          </p:cNvSpPr>
          <p:nvPr/>
        </p:nvSpPr>
        <p:spPr>
          <a:xfrm>
            <a:off x="1362075" y="3429000"/>
            <a:ext cx="2571750" cy="914400"/>
          </a:xfrm>
          <a:prstGeom prst="rect">
            <a:avLst/>
          </a:prstGeom>
          <a:noFill/>
        </p:spPr>
        <p:txBody>
          <a:bodyPr wrap="square" lIns="127" tIns="127" rIns="127" bIns="127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Aptos"/>
                <a:cs typeface="Aptos"/>
              </a:rPr>
              <a:t>Interface
React + Vite</a:t>
            </a: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Aptos"/>
              <a:cs typeface="Aptos"/>
            </a:endParaRPr>
          </a:p>
        </p:txBody>
      </p:sp>
      <p:sp>
        <p:nvSpPr>
          <p:cNvPr id="43" name="Step Box 2">
            <a:extLst>
              <a:ext uri="{FF2B5EF4-FFF2-40B4-BE49-F238E27FC236}">
                <a16:creationId xmlns:a16="http://schemas.microsoft.com/office/drawing/2014/main" id="{F0A0311D-4E46-4293-887E-E3845AEA634D}"/>
              </a:ext>
            </a:extLst>
          </p:cNvPr>
          <p:cNvSpPr>
            <a:spLocks noGrp="1"/>
          </p:cNvSpPr>
          <p:nvPr/>
        </p:nvSpPr>
        <p:spPr>
          <a:xfrm>
            <a:off x="4476750" y="3429000"/>
            <a:ext cx="3238500" cy="914400"/>
          </a:xfrm>
          <a:prstGeom prst="roundRect">
            <a:avLst/>
          </a:prstGeom>
          <a:noFill/>
          <a:ln w="13970">
            <a:solidFill>
              <a:srgbClr val="EF3F93">
                <a:alpha val="80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Aptos"/>
              <a:cs typeface="Aptos"/>
            </a:endParaRPr>
          </a:p>
        </p:txBody>
      </p:sp>
      <p:sp>
        <p:nvSpPr>
          <p:cNvPr id="44" name="Step Num 2">
            <a:extLst>
              <a:ext uri="{FF2B5EF4-FFF2-40B4-BE49-F238E27FC236}">
                <a16:creationId xmlns:a16="http://schemas.microsoft.com/office/drawing/2014/main" id="{C23EABA4-C7C3-45F6-B534-9EDBC209D437}"/>
              </a:ext>
            </a:extLst>
          </p:cNvPr>
          <p:cNvSpPr>
            <a:spLocks noGrp="1"/>
          </p:cNvSpPr>
          <p:nvPr/>
        </p:nvSpPr>
        <p:spPr>
          <a:xfrm>
            <a:off x="4610100" y="3771900"/>
            <a:ext cx="323850" cy="228600"/>
          </a:xfrm>
          <a:prstGeom prst="rect">
            <a:avLst/>
          </a:prstGeom>
          <a:solidFill>
            <a:srgbClr val="EF3F93"/>
          </a:solidFill>
          <a:ln>
            <a:solidFill>
              <a:srgbClr val="EF3F93">
                <a:alpha val="0"/>
              </a:srgbClr>
            </a:solidFill>
          </a:ln>
        </p:spPr>
        <p:txBody>
          <a:bodyPr wrap="square" lIns="127" tIns="127" rIns="127" bIns="127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6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Aptos"/>
                <a:cs typeface="Aptos"/>
              </a:rPr>
              <a:t>02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Aptos"/>
              <a:cs typeface="Aptos"/>
            </a:endParaRPr>
          </a:p>
        </p:txBody>
      </p:sp>
      <p:sp>
        <p:nvSpPr>
          <p:cNvPr id="45" name="Step Label 2">
            <a:extLst>
              <a:ext uri="{FF2B5EF4-FFF2-40B4-BE49-F238E27FC236}">
                <a16:creationId xmlns:a16="http://schemas.microsoft.com/office/drawing/2014/main" id="{9F0980CF-39B0-4157-9A49-4A4CFFB86687}"/>
              </a:ext>
            </a:extLst>
          </p:cNvPr>
          <p:cNvSpPr>
            <a:spLocks noGrp="1"/>
          </p:cNvSpPr>
          <p:nvPr/>
        </p:nvSpPr>
        <p:spPr>
          <a:xfrm>
            <a:off x="5029200" y="3429000"/>
            <a:ext cx="2571750" cy="914400"/>
          </a:xfrm>
          <a:prstGeom prst="rect">
            <a:avLst/>
          </a:prstGeom>
          <a:noFill/>
        </p:spPr>
        <p:txBody>
          <a:bodyPr wrap="square" lIns="127" tIns="127" rIns="127" bIns="127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Aptos"/>
                <a:cs typeface="Aptos"/>
              </a:rPr>
              <a:t>Aplicação
Node.js + TypeScript</a:t>
            </a: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Aptos"/>
              <a:cs typeface="Aptos"/>
            </a:endParaRPr>
          </a:p>
        </p:txBody>
      </p:sp>
      <p:sp>
        <p:nvSpPr>
          <p:cNvPr id="46" name="Step Box 3">
            <a:extLst>
              <a:ext uri="{FF2B5EF4-FFF2-40B4-BE49-F238E27FC236}">
                <a16:creationId xmlns:a16="http://schemas.microsoft.com/office/drawing/2014/main" id="{ECF2ECE4-39FD-46B9-B260-9FC8ACE08780}"/>
              </a:ext>
            </a:extLst>
          </p:cNvPr>
          <p:cNvSpPr>
            <a:spLocks noGrp="1"/>
          </p:cNvSpPr>
          <p:nvPr/>
        </p:nvSpPr>
        <p:spPr>
          <a:xfrm>
            <a:off x="8143875" y="3429000"/>
            <a:ext cx="3238500" cy="914400"/>
          </a:xfrm>
          <a:prstGeom prst="roundRect">
            <a:avLst/>
          </a:prstGeom>
          <a:noFill/>
          <a:ln w="13970">
            <a:solidFill>
              <a:srgbClr val="EF3F93">
                <a:alpha val="80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Aptos"/>
              <a:cs typeface="Aptos"/>
            </a:endParaRPr>
          </a:p>
        </p:txBody>
      </p:sp>
      <p:sp>
        <p:nvSpPr>
          <p:cNvPr id="47" name="Step Num 3">
            <a:extLst>
              <a:ext uri="{FF2B5EF4-FFF2-40B4-BE49-F238E27FC236}">
                <a16:creationId xmlns:a16="http://schemas.microsoft.com/office/drawing/2014/main" id="{5A743C61-52D7-47CD-A227-584AE11C20B2}"/>
              </a:ext>
            </a:extLst>
          </p:cNvPr>
          <p:cNvSpPr>
            <a:spLocks noGrp="1"/>
          </p:cNvSpPr>
          <p:nvPr/>
        </p:nvSpPr>
        <p:spPr>
          <a:xfrm>
            <a:off x="8277225" y="3771900"/>
            <a:ext cx="323850" cy="228600"/>
          </a:xfrm>
          <a:prstGeom prst="rect">
            <a:avLst/>
          </a:prstGeom>
          <a:solidFill>
            <a:srgbClr val="EF3F93"/>
          </a:solidFill>
          <a:ln>
            <a:solidFill>
              <a:srgbClr val="EF3F93">
                <a:alpha val="0"/>
              </a:srgbClr>
            </a:solidFill>
          </a:ln>
        </p:spPr>
        <p:txBody>
          <a:bodyPr wrap="square" lIns="127" tIns="127" rIns="127" bIns="127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6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Aptos"/>
                <a:cs typeface="Aptos"/>
              </a:rPr>
              <a:t>03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Aptos"/>
              <a:cs typeface="Aptos"/>
            </a:endParaRPr>
          </a:p>
        </p:txBody>
      </p:sp>
      <p:sp>
        <p:nvSpPr>
          <p:cNvPr id="48" name="Step Label 3">
            <a:extLst>
              <a:ext uri="{FF2B5EF4-FFF2-40B4-BE49-F238E27FC236}">
                <a16:creationId xmlns:a16="http://schemas.microsoft.com/office/drawing/2014/main" id="{6BE52AFA-56AE-42FA-931F-ABFAA861E601}"/>
              </a:ext>
            </a:extLst>
          </p:cNvPr>
          <p:cNvSpPr>
            <a:spLocks noGrp="1"/>
          </p:cNvSpPr>
          <p:nvPr/>
        </p:nvSpPr>
        <p:spPr>
          <a:xfrm>
            <a:off x="8620125" y="3429000"/>
            <a:ext cx="2724150" cy="914400"/>
          </a:xfrm>
          <a:prstGeom prst="rect">
            <a:avLst/>
          </a:prstGeom>
          <a:noFill/>
        </p:spPr>
        <p:txBody>
          <a:bodyPr wrap="square" lIns="127" tIns="127" rIns="127" bIns="127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Aptos"/>
                <a:cs typeface="Aptos"/>
              </a:rPr>
              <a:t>Dados e arquivos
Postgres + Supabase</a:t>
            </a: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Aptos"/>
              <a:cs typeface="Aptos"/>
            </a:endParaRPr>
          </a:p>
        </p:txBody>
      </p:sp>
      <p:sp>
        <p:nvSpPr>
          <p:cNvPr id="52" name="Step Arrow 1">
            <a:extLst>
              <a:ext uri="{FF2B5EF4-FFF2-40B4-BE49-F238E27FC236}">
                <a16:creationId xmlns:a16="http://schemas.microsoft.com/office/drawing/2014/main" id="{E7FA1C3C-087A-4AD8-B018-1081AAF2D25C}"/>
              </a:ext>
            </a:extLst>
          </p:cNvPr>
          <p:cNvSpPr>
            <a:spLocks noGrp="1"/>
          </p:cNvSpPr>
          <p:nvPr/>
        </p:nvSpPr>
        <p:spPr>
          <a:xfrm>
            <a:off x="4048125" y="3886200"/>
            <a:ext cx="428625" cy="0"/>
          </a:xfrm>
          <a:prstGeom prst="line">
            <a:avLst/>
          </a:prstGeom>
          <a:noFill/>
          <a:ln w="27940">
            <a:solidFill>
              <a:srgbClr val="FF3F9B">
                <a:alpha val="92000"/>
              </a:srgbClr>
            </a:solidFill>
            <a:prstDash val="solid"/>
            <a:headEnd type="none"/>
            <a:tailEnd type="triangl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Aptos"/>
              <a:cs typeface="Aptos"/>
            </a:endParaRPr>
          </a:p>
        </p:txBody>
      </p:sp>
      <p:sp>
        <p:nvSpPr>
          <p:cNvPr id="53" name="Step Arrow 2">
            <a:extLst>
              <a:ext uri="{FF2B5EF4-FFF2-40B4-BE49-F238E27FC236}">
                <a16:creationId xmlns:a16="http://schemas.microsoft.com/office/drawing/2014/main" id="{B5E077A5-29FD-4055-82AD-69A824352EB1}"/>
              </a:ext>
            </a:extLst>
          </p:cNvPr>
          <p:cNvSpPr>
            <a:spLocks noGrp="1"/>
          </p:cNvSpPr>
          <p:nvPr/>
        </p:nvSpPr>
        <p:spPr>
          <a:xfrm>
            <a:off x="7715250" y="3886200"/>
            <a:ext cx="428625" cy="0"/>
          </a:xfrm>
          <a:prstGeom prst="line">
            <a:avLst/>
          </a:prstGeom>
          <a:noFill/>
          <a:ln w="27940">
            <a:solidFill>
              <a:srgbClr val="FF3F9B">
                <a:alpha val="92000"/>
              </a:srgbClr>
            </a:solidFill>
            <a:prstDash val="solid"/>
            <a:headEnd type="none"/>
            <a:tailEnd type="triangl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Aptos"/>
              <a:cs typeface="Aptos"/>
            </a:endParaRPr>
          </a:p>
        </p:txBody>
      </p:sp>
      <p:sp>
        <p:nvSpPr>
          <p:cNvPr id="31" name="Text 28">
            <a:extLst>
              <a:ext uri="{FF2B5EF4-FFF2-40B4-BE49-F238E27FC236}">
                <a16:creationId xmlns:a16="http://schemas.microsoft.com/office/drawing/2014/main" id="{FB18A0D6-6713-474C-9C8A-931ABC30C67D}"/>
              </a:ext>
            </a:extLst>
          </p:cNvPr>
          <p:cNvSpPr>
            <a:spLocks noGrp="1"/>
          </p:cNvSpPr>
          <p:nvPr/>
        </p:nvSpPr>
        <p:spPr>
          <a:xfrm>
            <a:off x="809625" y="4591050"/>
            <a:ext cx="3238500" cy="342900"/>
          </a:xfrm>
          <a:prstGeom prst="rect">
            <a:avLst/>
          </a:prstGeom>
          <a:solidFill>
            <a:srgbClr val="FFFFFF">
              <a:alpha val="10000"/>
            </a:srgbClr>
          </a:solidFill>
          <a:ln w="11430">
            <a:solidFill>
              <a:srgbClr val="EF3F93">
                <a:alpha val="68000"/>
              </a:srgbClr>
            </a:solidFill>
          </a:ln>
        </p:spPr>
        <p:txBody>
          <a:bodyPr wrap="square" lIns="381" tIns="381" rIns="381" bIns="381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F8DCEB"/>
                </a:solidFill>
                <a:effectLst/>
                <a:uLnTx/>
                <a:uFillTx/>
                <a:latin typeface="Aptos"/>
                <a:ea typeface="Aptos"/>
                <a:cs typeface="Aptos"/>
              </a:rPr>
              <a:t>Segurança por perfis</a:t>
            </a:r>
            <a:endParaRPr kumimoji="0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Aptos"/>
              <a:cs typeface="Aptos"/>
            </a:endParaRPr>
          </a:p>
        </p:txBody>
      </p:sp>
      <p:sp>
        <p:nvSpPr>
          <p:cNvPr id="32" name="Text 29">
            <a:extLst>
              <a:ext uri="{FF2B5EF4-FFF2-40B4-BE49-F238E27FC236}">
                <a16:creationId xmlns:a16="http://schemas.microsoft.com/office/drawing/2014/main" id="{16C25409-EBA8-4371-AF8E-3F3FA483B4CC}"/>
              </a:ext>
            </a:extLst>
          </p:cNvPr>
          <p:cNvSpPr>
            <a:spLocks noGrp="1"/>
          </p:cNvSpPr>
          <p:nvPr/>
        </p:nvSpPr>
        <p:spPr>
          <a:xfrm>
            <a:off x="4476750" y="4591050"/>
            <a:ext cx="3238500" cy="342900"/>
          </a:xfrm>
          <a:prstGeom prst="rect">
            <a:avLst/>
          </a:prstGeom>
          <a:solidFill>
            <a:srgbClr val="FFFFFF">
              <a:alpha val="10000"/>
            </a:srgbClr>
          </a:solidFill>
          <a:ln w="11430">
            <a:solidFill>
              <a:srgbClr val="EF3F93">
                <a:alpha val="68000"/>
              </a:srgbClr>
            </a:solidFill>
          </a:ln>
        </p:spPr>
        <p:txBody>
          <a:bodyPr wrap="square" lIns="381" tIns="381" rIns="381" bIns="381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F8DCEB"/>
                </a:solidFill>
                <a:effectLst/>
                <a:uLnTx/>
                <a:uFillTx/>
                <a:latin typeface="Aptos"/>
                <a:ea typeface="Aptos"/>
                <a:cs typeface="Aptos"/>
              </a:rPr>
              <a:t>331 testes aprovados</a:t>
            </a:r>
            <a:endParaRPr kumimoji="0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Aptos"/>
              <a:cs typeface="Aptos"/>
            </a:endParaRPr>
          </a:p>
        </p:txBody>
      </p:sp>
      <p:sp>
        <p:nvSpPr>
          <p:cNvPr id="33" name="Text 30">
            <a:extLst>
              <a:ext uri="{FF2B5EF4-FFF2-40B4-BE49-F238E27FC236}">
                <a16:creationId xmlns:a16="http://schemas.microsoft.com/office/drawing/2014/main" id="{983381D0-E74A-4FBF-A8D2-97133BB6FA85}"/>
              </a:ext>
            </a:extLst>
          </p:cNvPr>
          <p:cNvSpPr>
            <a:spLocks noGrp="1"/>
          </p:cNvSpPr>
          <p:nvPr/>
        </p:nvSpPr>
        <p:spPr>
          <a:xfrm>
            <a:off x="8143875" y="4591050"/>
            <a:ext cx="3238500" cy="342900"/>
          </a:xfrm>
          <a:prstGeom prst="rect">
            <a:avLst/>
          </a:prstGeom>
          <a:solidFill>
            <a:srgbClr val="A7014B">
              <a:alpha val="92000"/>
            </a:srgbClr>
          </a:solidFill>
          <a:ln w="13970">
            <a:solidFill>
              <a:srgbClr val="FF3F9B"/>
            </a:solidFill>
          </a:ln>
        </p:spPr>
        <p:txBody>
          <a:bodyPr wrap="square" lIns="381" tIns="381" rIns="381" bIns="381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F8DCEB"/>
                </a:solidFill>
                <a:effectLst/>
                <a:uLnTx/>
                <a:uFillTx/>
                <a:latin typeface="Aptos"/>
                <a:ea typeface="Aptos"/>
                <a:cs typeface="Aptos"/>
              </a:rPr>
              <a:t>Vercel + Render</a:t>
            </a:r>
            <a:endParaRPr kumimoji="0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Aptos"/>
              <a:cs typeface="Aptos"/>
            </a:endParaRPr>
          </a:p>
        </p:txBody>
      </p:sp>
      <p:sp>
        <p:nvSpPr>
          <p:cNvPr id="35" name="Text 32">
            <a:extLst>
              <a:ext uri="{FF2B5EF4-FFF2-40B4-BE49-F238E27FC236}">
                <a16:creationId xmlns:a16="http://schemas.microsoft.com/office/drawing/2014/main" id="{2CBAD605-5A06-40C7-AE2D-BF421BDFD336}"/>
              </a:ext>
            </a:extLst>
          </p:cNvPr>
          <p:cNvSpPr>
            <a:spLocks noGrp="1"/>
          </p:cNvSpPr>
          <p:nvPr/>
        </p:nvSpPr>
        <p:spPr>
          <a:xfrm>
            <a:off x="978368" y="5265352"/>
            <a:ext cx="10235264" cy="480000"/>
          </a:xfrm>
          <a:prstGeom prst="rect">
            <a:avLst/>
          </a:prstGeom>
          <a:solidFill>
            <a:srgbClr val="A7014B">
              <a:alpha val="78000"/>
            </a:srgbClr>
          </a:solidFill>
          <a:ln w="12700">
            <a:solidFill>
              <a:srgbClr val="FF3F9B">
                <a:alpha val="90000"/>
              </a:srgbClr>
            </a:solidFill>
          </a:ln>
        </p:spPr>
        <p:txBody>
          <a:bodyPr wrap="square" lIns="635" tIns="635" rIns="635" bIns="635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1" i="0" u="none" strike="noStrike" kern="1200" cap="none" spc="0" normalizeH="0" baseline="0" noProof="0">
                <a:ln>
                  <a:noFill/>
                </a:ln>
                <a:solidFill>
                  <a:srgbClr val="F5DBE8"/>
                </a:solidFill>
                <a:effectLst/>
                <a:uLnTx/>
                <a:uFillTx/>
                <a:latin typeface="Aptos"/>
                <a:ea typeface="Aptos"/>
                <a:cs typeface="Aptos"/>
              </a:rPr>
              <a:t>Arquitetura modular, segura e preparada para a nuvem.</a:t>
            </a: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Aptos"/>
              <a:cs typeface="Aptos"/>
            </a:endParaRPr>
          </a:p>
        </p:txBody>
      </p:sp>
      <p:sp>
        <p:nvSpPr>
          <p:cNvPr id="37" name="Shape 34">
            <a:extLst>
              <a:ext uri="{FF2B5EF4-FFF2-40B4-BE49-F238E27FC236}">
                <a16:creationId xmlns:a16="http://schemas.microsoft.com/office/drawing/2014/main" id="{7CF21B37-04BF-4C5D-A547-8D0706A0C4B3}"/>
              </a:ext>
            </a:extLst>
          </p:cNvPr>
          <p:cNvSpPr>
            <a:spLocks noGrp="1"/>
          </p:cNvSpPr>
          <p:nvPr/>
        </p:nvSpPr>
        <p:spPr>
          <a:xfrm>
            <a:off x="658368" y="6245352"/>
            <a:ext cx="10853928" cy="0"/>
          </a:xfrm>
          <a:prstGeom prst="line">
            <a:avLst/>
          </a:prstGeom>
          <a:noFill/>
          <a:ln w="10160">
            <a:solidFill>
              <a:srgbClr val="EF3F93">
                <a:alpha val="34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Aptos"/>
              <a:cs typeface="Aptos"/>
            </a:endParaRPr>
          </a:p>
        </p:txBody>
      </p:sp>
      <p:sp>
        <p:nvSpPr>
          <p:cNvPr id="38" name="Text 35">
            <a:extLst>
              <a:ext uri="{FF2B5EF4-FFF2-40B4-BE49-F238E27FC236}">
                <a16:creationId xmlns:a16="http://schemas.microsoft.com/office/drawing/2014/main" id="{277798C3-2CCA-4322-BF07-60E3255634A1}"/>
              </a:ext>
            </a:extLst>
          </p:cNvPr>
          <p:cNvSpPr>
            <a:spLocks noGrp="1"/>
          </p:cNvSpPr>
          <p:nvPr/>
        </p:nvSpPr>
        <p:spPr>
          <a:xfrm>
            <a:off x="658368" y="6382512"/>
            <a:ext cx="822960" cy="1645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1" i="0" u="none" strike="noStrike" kern="1200" cap="none" spc="0" normalizeH="0" baseline="0" noProof="0">
                <a:ln>
                  <a:noFill/>
                </a:ln>
                <a:solidFill>
                  <a:srgbClr val="F4D3E4"/>
                </a:solidFill>
                <a:effectLst/>
                <a:uLnTx/>
                <a:uFillTx/>
                <a:latin typeface="Aptos"/>
                <a:ea typeface="Aptos"/>
                <a:cs typeface="Aptos"/>
              </a:rPr>
              <a:t>Postinder</a:t>
            </a:r>
            <a:endParaRPr kumimoji="0" sz="10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Aptos"/>
              <a:cs typeface="Aptos"/>
            </a:endParaRPr>
          </a:p>
        </p:txBody>
      </p:sp>
      <p:sp>
        <p:nvSpPr>
          <p:cNvPr id="39" name="Text 36">
            <a:extLst>
              <a:ext uri="{FF2B5EF4-FFF2-40B4-BE49-F238E27FC236}">
                <a16:creationId xmlns:a16="http://schemas.microsoft.com/office/drawing/2014/main" id="{76980959-99E2-4BA3-B8FC-6F8226364D5B}"/>
              </a:ext>
            </a:extLst>
          </p:cNvPr>
          <p:cNvSpPr>
            <a:spLocks noGrp="1"/>
          </p:cNvSpPr>
          <p:nvPr/>
        </p:nvSpPr>
        <p:spPr>
          <a:xfrm>
            <a:off x="1737360" y="6382512"/>
            <a:ext cx="1783080" cy="1645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1200" cap="none" spc="0" normalizeH="0" baseline="0" noProof="0">
                <a:ln>
                  <a:noFill/>
                </a:ln>
                <a:solidFill>
                  <a:srgbClr val="B99CAE"/>
                </a:solidFill>
                <a:effectLst/>
                <a:uLnTx/>
                <a:uFillTx/>
                <a:latin typeface="Aptos"/>
                <a:ea typeface="Aptos"/>
                <a:cs typeface="Aptos"/>
              </a:rPr>
              <a:t>Apresentação Final do Projeto</a:t>
            </a:r>
            <a:endParaRPr kumimoji="0" sz="10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432873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05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high_resolution_abstract_futuristic_tech_backgro.png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11" name="Badge 11"/>
          <p:cNvSpPr/>
          <p:nvPr/>
        </p:nvSpPr>
        <p:spPr>
          <a:xfrm>
            <a:off x="658368" y="566928"/>
            <a:ext cx="1828800" cy="347472"/>
          </a:xfrm>
          <a:prstGeom prst="rect">
            <a:avLst/>
          </a:prstGeom>
          <a:solidFill>
            <a:srgbClr val="EC3C93"/>
          </a:solidFill>
          <a:ln w="12700">
            <a:solidFill>
              <a:srgbClr val="EC3C9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2" name="Text 12"/>
          <p:cNvSpPr txBox="1"/>
          <p:nvPr/>
        </p:nvSpPr>
        <p:spPr>
          <a:xfrm>
            <a:off x="658368" y="566928"/>
            <a:ext cx="1828800" cy="34747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Aptos"/>
              </a:rPr>
              <a:t>07 · IMPLANTAÇÃO</a:t>
            </a:r>
          </a:p>
        </p:txBody>
      </p:sp>
      <p:sp>
        <p:nvSpPr>
          <p:cNvPr id="13" name="Text 13"/>
          <p:cNvSpPr txBox="1"/>
          <p:nvPr/>
        </p:nvSpPr>
        <p:spPr>
          <a:xfrm>
            <a:off x="658368" y="950000"/>
            <a:ext cx="10874959" cy="65000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 Display"/>
                <a:ea typeface="+mn-ea"/>
                <a:cs typeface="Aptos Display"/>
              </a:rPr>
              <a:t>Como colocar em funcionamento</a:t>
            </a:r>
          </a:p>
        </p:txBody>
      </p:sp>
      <p:sp>
        <p:nvSpPr>
          <p:cNvPr id="14" name="Text 14"/>
          <p:cNvSpPr txBox="1"/>
          <p:nvPr/>
        </p:nvSpPr>
        <p:spPr>
          <a:xfrm>
            <a:off x="658368" y="1500000"/>
            <a:ext cx="10200000" cy="40000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600" b="1" i="0" u="none" strike="noStrike" kern="1200" cap="none" spc="0" normalizeH="0" baseline="0" noProof="0" dirty="0">
                <a:ln>
                  <a:noFill/>
                </a:ln>
                <a:solidFill>
                  <a:srgbClr val="F7D7E5">
                    <a:alpha val="88000"/>
                  </a:srgbClr>
                </a:solidFill>
                <a:effectLst/>
                <a:uLnTx/>
                <a:uFillTx/>
                <a:latin typeface="Aptos"/>
                <a:ea typeface="+mn-ea"/>
                <a:cs typeface="Aptos"/>
              </a:rPr>
              <a:t>Sem burocracia, sem instalação e sem curva de aprendizado.</a:t>
            </a:r>
          </a:p>
        </p:txBody>
      </p:sp>
      <p:sp>
        <p:nvSpPr>
          <p:cNvPr id="15" name="Shape 15"/>
          <p:cNvSpPr/>
          <p:nvPr/>
        </p:nvSpPr>
        <p:spPr>
          <a:xfrm>
            <a:off x="658368" y="2150000"/>
            <a:ext cx="4189983" cy="3550000"/>
          </a:xfrm>
          <a:prstGeom prst="roundRect">
            <a:avLst>
              <a:gd name="adj" fmla="val 7000"/>
            </a:avLst>
          </a:prstGeom>
          <a:solidFill>
            <a:srgbClr val="EC3C93">
              <a:alpha val="94000"/>
            </a:srgbClr>
          </a:solidFill>
          <a:ln w="8000">
            <a:solidFill>
              <a:srgbClr val="FF9DC7">
                <a:alpha val="35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6" name="Text 16"/>
          <p:cNvSpPr txBox="1"/>
          <p:nvPr/>
        </p:nvSpPr>
        <p:spPr>
          <a:xfrm>
            <a:off x="958368" y="2410000"/>
            <a:ext cx="3589983" cy="32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50" b="1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alpha val="80000"/>
                  </a:srgbClr>
                </a:solidFill>
                <a:effectLst/>
                <a:uLnTx/>
                <a:uFillTx/>
                <a:latin typeface="Aptos"/>
                <a:ea typeface="+mn-ea"/>
                <a:cs typeface="Aptos"/>
              </a:rPr>
              <a:t>O QUE VOCÊ JÁ TEM</a:t>
            </a:r>
          </a:p>
        </p:txBody>
      </p:sp>
      <p:sp>
        <p:nvSpPr>
          <p:cNvPr id="17" name="Circle 17"/>
          <p:cNvSpPr/>
          <p:nvPr/>
        </p:nvSpPr>
        <p:spPr>
          <a:xfrm>
            <a:off x="958368" y="2850000"/>
            <a:ext cx="440000" cy="44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9" name="Text 19"/>
          <p:cNvSpPr txBox="1"/>
          <p:nvPr/>
        </p:nvSpPr>
        <p:spPr>
          <a:xfrm>
            <a:off x="1618368" y="2850000"/>
            <a:ext cx="2929983" cy="56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marR="0" lvl="0" indent="0" algn="l" defTabSz="9144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Aptos"/>
              </a:rPr>
              <a:t>Navegador atualizado</a:t>
            </a:r>
          </a:p>
        </p:txBody>
      </p:sp>
      <p:pic>
        <p:nvPicPr>
          <p:cNvPr id="18" name="Icon 1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8368" y="2960000"/>
            <a:ext cx="220000" cy="220000"/>
          </a:xfrm>
          <a:prstGeom prst="rect">
            <a:avLst/>
          </a:prstGeom>
        </p:spPr>
      </p:pic>
      <p:sp>
        <p:nvSpPr>
          <p:cNvPr id="20" name="Circle 20"/>
          <p:cNvSpPr/>
          <p:nvPr/>
        </p:nvSpPr>
        <p:spPr>
          <a:xfrm>
            <a:off x="958368" y="3410000"/>
            <a:ext cx="440000" cy="44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pic>
        <p:nvPicPr>
          <p:cNvPr id="21" name="Icon 2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8368" y="3520000"/>
            <a:ext cx="220000" cy="220000"/>
          </a:xfrm>
          <a:prstGeom prst="rect">
            <a:avLst/>
          </a:prstGeom>
        </p:spPr>
      </p:pic>
      <p:sp>
        <p:nvSpPr>
          <p:cNvPr id="22" name="Text 22"/>
          <p:cNvSpPr txBox="1"/>
          <p:nvPr/>
        </p:nvSpPr>
        <p:spPr>
          <a:xfrm>
            <a:off x="1618368" y="3410000"/>
            <a:ext cx="2929983" cy="56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marR="0" lvl="0" indent="0" algn="l" defTabSz="9144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Aptos"/>
              </a:rPr>
              <a:t>Conexão à internet</a:t>
            </a:r>
          </a:p>
        </p:txBody>
      </p:sp>
      <p:sp>
        <p:nvSpPr>
          <p:cNvPr id="23" name="Circle 23"/>
          <p:cNvSpPr/>
          <p:nvPr/>
        </p:nvSpPr>
        <p:spPr>
          <a:xfrm>
            <a:off x="958368" y="3970000"/>
            <a:ext cx="440000" cy="44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pic>
        <p:nvPicPr>
          <p:cNvPr id="24" name="Icon 2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8368" y="4080000"/>
            <a:ext cx="220000" cy="220000"/>
          </a:xfrm>
          <a:prstGeom prst="rect">
            <a:avLst/>
          </a:prstGeom>
        </p:spPr>
      </p:pic>
      <p:sp>
        <p:nvSpPr>
          <p:cNvPr id="25" name="Text 25"/>
          <p:cNvSpPr txBox="1"/>
          <p:nvPr/>
        </p:nvSpPr>
        <p:spPr>
          <a:xfrm>
            <a:off x="1618368" y="3970000"/>
            <a:ext cx="2929983" cy="56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marR="0" lvl="0" indent="0" algn="l" defTabSz="9144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Aptos"/>
              </a:rPr>
              <a:t>Computador ou celular</a:t>
            </a:r>
          </a:p>
        </p:txBody>
      </p:sp>
      <p:sp>
        <p:nvSpPr>
          <p:cNvPr id="26" name="Circle 26"/>
          <p:cNvSpPr/>
          <p:nvPr/>
        </p:nvSpPr>
        <p:spPr>
          <a:xfrm>
            <a:off x="958368" y="4530000"/>
            <a:ext cx="440000" cy="44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pic>
        <p:nvPicPr>
          <p:cNvPr id="27" name="Icon 2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8368" y="4640000"/>
            <a:ext cx="220000" cy="220000"/>
          </a:xfrm>
          <a:prstGeom prst="rect">
            <a:avLst/>
          </a:prstGeom>
        </p:spPr>
      </p:pic>
      <p:sp>
        <p:nvSpPr>
          <p:cNvPr id="28" name="Text 28"/>
          <p:cNvSpPr txBox="1"/>
          <p:nvPr/>
        </p:nvSpPr>
        <p:spPr>
          <a:xfrm>
            <a:off x="1618368" y="4530000"/>
            <a:ext cx="2929983" cy="56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marR="0" lvl="0" indent="0" algn="l" defTabSz="9144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Aptos"/>
              </a:rPr>
              <a:t>Nenhuma instalação</a:t>
            </a:r>
          </a:p>
        </p:txBody>
      </p:sp>
      <p:sp>
        <p:nvSpPr>
          <p:cNvPr id="29" name="Text 29"/>
          <p:cNvSpPr txBox="1"/>
          <p:nvPr/>
        </p:nvSpPr>
        <p:spPr>
          <a:xfrm>
            <a:off x="958368" y="5080000"/>
            <a:ext cx="3589983" cy="560000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alpha val="92000"/>
                  </a:srgbClr>
                </a:solidFill>
                <a:effectLst/>
                <a:uLnTx/>
                <a:uFillTx/>
                <a:latin typeface="Aptos"/>
                <a:ea typeface="+mn-ea"/>
                <a:cs typeface="Aptos"/>
              </a:rPr>
              <a:t>Basta ter acesso à internet. </a:t>
            </a: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alpha val="92000"/>
                  </a:srgbClr>
                </a:solidFill>
                <a:effectLst/>
                <a:uLnTx/>
                <a:uFillTx/>
                <a:latin typeface="Aptos"/>
                <a:ea typeface="+mn-ea"/>
                <a:cs typeface="Aptos"/>
              </a:rPr>
              <a:t>O resto já está pronto.</a:t>
            </a:r>
          </a:p>
        </p:txBody>
      </p:sp>
      <p:cxnSp>
        <p:nvCxnSpPr>
          <p:cNvPr id="30" name="Line 30"/>
          <p:cNvCxnSpPr/>
          <p:nvPr/>
        </p:nvCxnSpPr>
        <p:spPr>
          <a:xfrm>
            <a:off x="5528351" y="2470000"/>
            <a:ext cx="1" cy="2400000"/>
          </a:xfrm>
          <a:prstGeom prst="line">
            <a:avLst/>
          </a:prstGeom>
          <a:ln w="15875">
            <a:solidFill>
              <a:srgbClr val="EC3C93">
                <a:alpha val="45000"/>
              </a:srgbClr>
            </a:solidFill>
            <a:prstDash val="solid"/>
          </a:ln>
        </p:spPr>
      </p:cxnSp>
      <p:sp>
        <p:nvSpPr>
          <p:cNvPr id="31" name="Circle 31"/>
          <p:cNvSpPr/>
          <p:nvPr/>
        </p:nvSpPr>
        <p:spPr>
          <a:xfrm>
            <a:off x="5248351" y="2190000"/>
            <a:ext cx="560000" cy="560000"/>
          </a:xfrm>
          <a:prstGeom prst="ellipse">
            <a:avLst/>
          </a:prstGeom>
          <a:solidFill>
            <a:srgbClr val="EC3C93"/>
          </a:solidFill>
          <a:ln>
            <a:noFill/>
          </a:ln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2" name="Text 32"/>
          <p:cNvSpPr txBox="1"/>
          <p:nvPr/>
        </p:nvSpPr>
        <p:spPr>
          <a:xfrm>
            <a:off x="5248351" y="2190000"/>
            <a:ext cx="560000" cy="56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Aptos"/>
              </a:rPr>
              <a:t>01</a:t>
            </a:r>
          </a:p>
        </p:txBody>
      </p:sp>
      <p:sp>
        <p:nvSpPr>
          <p:cNvPr id="33" name="Text 33"/>
          <p:cNvSpPr txBox="1"/>
          <p:nvPr/>
        </p:nvSpPr>
        <p:spPr>
          <a:xfrm>
            <a:off x="6068351" y="2260000"/>
            <a:ext cx="5464976" cy="46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Aptos"/>
              </a:rPr>
              <a:t>Configurar a plataforma</a:t>
            </a:r>
          </a:p>
        </p:txBody>
      </p:sp>
      <p:sp>
        <p:nvSpPr>
          <p:cNvPr id="34" name="Circle 34"/>
          <p:cNvSpPr/>
          <p:nvPr/>
        </p:nvSpPr>
        <p:spPr>
          <a:xfrm>
            <a:off x="5248351" y="2990000"/>
            <a:ext cx="560000" cy="560000"/>
          </a:xfrm>
          <a:prstGeom prst="ellipse">
            <a:avLst/>
          </a:prstGeom>
          <a:solidFill>
            <a:srgbClr val="EC3C93"/>
          </a:solidFill>
          <a:ln>
            <a:noFill/>
          </a:ln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5" name="Text 35"/>
          <p:cNvSpPr txBox="1"/>
          <p:nvPr/>
        </p:nvSpPr>
        <p:spPr>
          <a:xfrm>
            <a:off x="5248351" y="2990000"/>
            <a:ext cx="560000" cy="56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Aptos"/>
              </a:rPr>
              <a:t>02</a:t>
            </a:r>
          </a:p>
        </p:txBody>
      </p:sp>
      <p:sp>
        <p:nvSpPr>
          <p:cNvPr id="36" name="Text 36"/>
          <p:cNvSpPr txBox="1"/>
          <p:nvPr/>
        </p:nvSpPr>
        <p:spPr>
          <a:xfrm>
            <a:off x="6068351" y="3060000"/>
            <a:ext cx="5464976" cy="46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Aptos"/>
              </a:rPr>
              <a:t>Cadastrar usuários e clientes</a:t>
            </a:r>
          </a:p>
        </p:txBody>
      </p:sp>
      <p:sp>
        <p:nvSpPr>
          <p:cNvPr id="37" name="Circle 37"/>
          <p:cNvSpPr/>
          <p:nvPr/>
        </p:nvSpPr>
        <p:spPr>
          <a:xfrm>
            <a:off x="5248351" y="3790000"/>
            <a:ext cx="560000" cy="560000"/>
          </a:xfrm>
          <a:prstGeom prst="ellipse">
            <a:avLst/>
          </a:prstGeom>
          <a:solidFill>
            <a:srgbClr val="EC3C93"/>
          </a:solidFill>
          <a:ln>
            <a:noFill/>
          </a:ln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8" name="Text 38"/>
          <p:cNvSpPr txBox="1"/>
          <p:nvPr/>
        </p:nvSpPr>
        <p:spPr>
          <a:xfrm>
            <a:off x="5248351" y="3790000"/>
            <a:ext cx="560000" cy="56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Aptos"/>
              </a:rPr>
              <a:t>03</a:t>
            </a:r>
          </a:p>
        </p:txBody>
      </p:sp>
      <p:sp>
        <p:nvSpPr>
          <p:cNvPr id="39" name="Text 39"/>
          <p:cNvSpPr txBox="1"/>
          <p:nvPr/>
        </p:nvSpPr>
        <p:spPr>
          <a:xfrm>
            <a:off x="6068351" y="3860000"/>
            <a:ext cx="5464976" cy="46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Aptos"/>
              </a:rPr>
              <a:t>Inserir os conteúdos</a:t>
            </a:r>
          </a:p>
        </p:txBody>
      </p:sp>
      <p:sp>
        <p:nvSpPr>
          <p:cNvPr id="40" name="Circle 40"/>
          <p:cNvSpPr/>
          <p:nvPr/>
        </p:nvSpPr>
        <p:spPr>
          <a:xfrm>
            <a:off x="5248351" y="4590000"/>
            <a:ext cx="560000" cy="560000"/>
          </a:xfrm>
          <a:prstGeom prst="ellipse">
            <a:avLst/>
          </a:prstGeom>
          <a:solidFill>
            <a:srgbClr val="EC3C93"/>
          </a:solidFill>
          <a:ln>
            <a:noFill/>
          </a:ln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1" name="Text 41"/>
          <p:cNvSpPr txBox="1"/>
          <p:nvPr/>
        </p:nvSpPr>
        <p:spPr>
          <a:xfrm>
            <a:off x="5248351" y="4590000"/>
            <a:ext cx="560000" cy="56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Aptos"/>
              </a:rPr>
              <a:t>04</a:t>
            </a:r>
          </a:p>
        </p:txBody>
      </p:sp>
      <p:sp>
        <p:nvSpPr>
          <p:cNvPr id="42" name="Text 42"/>
          <p:cNvSpPr txBox="1"/>
          <p:nvPr/>
        </p:nvSpPr>
        <p:spPr>
          <a:xfrm>
            <a:off x="6068351" y="4660000"/>
            <a:ext cx="5464976" cy="46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Aptos"/>
              </a:rPr>
              <a:t>Compartilhar o acesso</a:t>
            </a:r>
          </a:p>
        </p:txBody>
      </p:sp>
      <p:sp>
        <p:nvSpPr>
          <p:cNvPr id="43" name="Shape 43"/>
          <p:cNvSpPr/>
          <p:nvPr/>
        </p:nvSpPr>
        <p:spPr>
          <a:xfrm>
            <a:off x="658368" y="5900000"/>
            <a:ext cx="10874959" cy="470000"/>
          </a:xfrm>
          <a:prstGeom prst="roundRect">
            <a:avLst>
              <a:gd name="adj" fmla="val 15000"/>
            </a:avLst>
          </a:prstGeom>
          <a:solidFill>
            <a:srgbClr val="FFFFFF">
              <a:alpha val="6000"/>
            </a:srgbClr>
          </a:solidFill>
          <a:ln w="8000">
            <a:solidFill>
              <a:srgbClr val="EC3C93">
                <a:alpha val="35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4" name="Text 44"/>
          <p:cNvSpPr txBox="1"/>
          <p:nvPr/>
        </p:nvSpPr>
        <p:spPr>
          <a:xfrm>
            <a:off x="1008368" y="5900000"/>
            <a:ext cx="10174959" cy="47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Aptos"/>
              </a:rPr>
              <a:t>E então, vamos adotar o Postinder como canal oficial de aprovação de conteúdos!?</a:t>
            </a:r>
          </a:p>
        </p:txBody>
      </p:sp>
      <p:sp>
        <p:nvSpPr>
          <p:cNvPr id="45" name="Text 45"/>
          <p:cNvSpPr txBox="1"/>
          <p:nvPr/>
        </p:nvSpPr>
        <p:spPr>
          <a:xfrm>
            <a:off x="658368" y="6446520"/>
            <a:ext cx="1005840" cy="146304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1" i="0" u="none" strike="noStrike" kern="1200" cap="none" spc="0" normalizeH="0" baseline="0" noProof="0" dirty="0">
                <a:ln>
                  <a:noFill/>
                </a:ln>
                <a:solidFill>
                  <a:srgbClr val="F6EAF1"/>
                </a:solidFill>
                <a:effectLst/>
                <a:uLnTx/>
                <a:uFillTx/>
                <a:latin typeface="Aptos"/>
                <a:ea typeface="+mn-ea"/>
                <a:cs typeface="Aptos"/>
              </a:rPr>
              <a:t>Postinder</a:t>
            </a:r>
          </a:p>
        </p:txBody>
      </p:sp>
      <p:sp>
        <p:nvSpPr>
          <p:cNvPr id="46" name="Text 46"/>
          <p:cNvSpPr txBox="1"/>
          <p:nvPr/>
        </p:nvSpPr>
        <p:spPr>
          <a:xfrm>
            <a:off x="1737360" y="6446520"/>
            <a:ext cx="2377440" cy="146304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00" b="0" i="0" u="none" strike="noStrike" kern="1200" cap="none" spc="0" normalizeH="0" baseline="0" noProof="0" dirty="0">
                <a:ln>
                  <a:noFill/>
                </a:ln>
                <a:solidFill>
                  <a:srgbClr val="F7D7E5">
                    <a:alpha val="75000"/>
                  </a:srgbClr>
                </a:solidFill>
                <a:effectLst/>
                <a:uLnTx/>
                <a:uFillTx/>
                <a:latin typeface="Aptos"/>
                <a:ea typeface="+mn-ea"/>
                <a:cs typeface="Aptos"/>
              </a:rPr>
              <a:t>Apresentação Final do Projeto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 animBg="1"/>
      <p:bldP spid="4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Card4"/>
          <p:cNvSpPr/>
          <p:nvPr/>
        </p:nvSpPr>
        <p:spPr>
          <a:xfrm>
            <a:off x="7315200" y="1066800"/>
            <a:ext cx="2133600" cy="2743200"/>
          </a:xfrm>
          <a:prstGeom prst="rect">
            <a:avLst/>
          </a:prstGeom>
          <a:solidFill>
            <a:srgbClr val="F8F8F8"/>
          </a:solidFill>
          <a:ln w="12700">
            <a:solidFill>
              <a:srgbClr val="E0E0E0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220" name="Card3"/>
          <p:cNvSpPr/>
          <p:nvPr/>
        </p:nvSpPr>
        <p:spPr>
          <a:xfrm>
            <a:off x="4953000" y="1066800"/>
            <a:ext cx="2133600" cy="2743200"/>
          </a:xfrm>
          <a:prstGeom prst="rect">
            <a:avLst/>
          </a:prstGeom>
          <a:solidFill>
            <a:srgbClr val="F8F8F8"/>
          </a:solidFill>
          <a:ln w="12700">
            <a:solidFill>
              <a:srgbClr val="E0E0E0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00" name="TopBar"/>
          <p:cNvSpPr>
            <a:spLocks noGrp="1"/>
          </p:cNvSpPr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A7014B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01" name="SlideTitle"/>
          <p:cNvSpPr>
            <a:spLocks noGrp="1"/>
          </p:cNvSpPr>
          <p:nvPr/>
        </p:nvSpPr>
        <p:spPr>
          <a:xfrm>
            <a:off x="304800" y="152400"/>
            <a:ext cx="11582400" cy="6096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l"/>
            <a:r>
              <a:rPr lang="pt-BR" sz="2800" b="1" dirty="0">
                <a:solidFill>
                  <a:srgbClr val="FFFFFF"/>
                </a:solidFill>
              </a:rPr>
              <a:t>Nossa Equipe</a:t>
            </a:r>
          </a:p>
        </p:txBody>
      </p:sp>
      <p:sp>
        <p:nvSpPr>
          <p:cNvPr id="200" name="Card1"/>
          <p:cNvSpPr/>
          <p:nvPr/>
        </p:nvSpPr>
        <p:spPr>
          <a:xfrm>
            <a:off x="228600" y="1066800"/>
            <a:ext cx="2133600" cy="2743200"/>
          </a:xfrm>
          <a:prstGeom prst="rect">
            <a:avLst/>
          </a:prstGeom>
          <a:solidFill>
            <a:srgbClr val="F8F8F8"/>
          </a:solidFill>
          <a:ln w="12700">
            <a:solidFill>
              <a:srgbClr val="E0E0E0"/>
            </a:solidFill>
          </a:ln>
        </p:spPr>
        <p:txBody>
          <a:bodyPr/>
          <a:lstStyle/>
          <a:p>
            <a:endParaRPr lang="pt-BR"/>
          </a:p>
        </p:txBody>
      </p:sp>
      <p:pic>
        <p:nvPicPr>
          <p:cNvPr id="201" name="Photo1" descr="Matheus Winck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80200" y="1143000"/>
            <a:ext cx="1828800" cy="1828800"/>
          </a:xfrm>
          <a:prstGeom prst="ellipse">
            <a:avLst/>
          </a:prstGeom>
        </p:spPr>
      </p:pic>
      <p:sp>
        <p:nvSpPr>
          <p:cNvPr id="202" name="Badge1"/>
          <p:cNvSpPr/>
          <p:nvPr/>
        </p:nvSpPr>
        <p:spPr>
          <a:xfrm>
            <a:off x="380200" y="3009600"/>
            <a:ext cx="1828800" cy="304800"/>
          </a:xfrm>
          <a:prstGeom prst="roundRect">
            <a:avLst>
              <a:gd name="adj" fmla="val 50000"/>
            </a:avLst>
          </a:prstGeom>
          <a:solidFill>
            <a:srgbClr val="A7014B"/>
          </a:solidFill>
          <a:ln>
            <a:noFill/>
          </a:ln>
        </p:spPr>
        <p:txBody>
          <a:bodyPr anchor="ctr"/>
          <a:lstStyle/>
          <a:p>
            <a:pPr algn="ctr"/>
            <a:r>
              <a:rPr lang="pt-BR" sz="1000" b="1" dirty="0">
                <a:solidFill>
                  <a:srgbClr val="FFFFFF"/>
                </a:solidFill>
              </a:rPr>
              <a:t>Matheus Winck</a:t>
            </a:r>
          </a:p>
        </p:txBody>
      </p:sp>
      <p:sp>
        <p:nvSpPr>
          <p:cNvPr id="203" name="Name1"/>
          <p:cNvSpPr/>
          <p:nvPr/>
        </p:nvSpPr>
        <p:spPr>
          <a:xfrm>
            <a:off x="228600" y="3352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="t"/>
          <a:lstStyle/>
          <a:p>
            <a:pPr algn="ctr"/>
            <a:r>
              <a:rPr lang="pt-BR" sz="1000" b="1" dirty="0">
                <a:solidFill>
                  <a:srgbClr val="222222"/>
                </a:solidFill>
              </a:rPr>
              <a:t>pimentel.matheus00@gmail.com</a:t>
            </a:r>
          </a:p>
        </p:txBody>
      </p:sp>
      <p:sp>
        <p:nvSpPr>
          <p:cNvPr id="210" name="Card2"/>
          <p:cNvSpPr/>
          <p:nvPr/>
        </p:nvSpPr>
        <p:spPr>
          <a:xfrm>
            <a:off x="2590800" y="1066800"/>
            <a:ext cx="2133600" cy="2743200"/>
          </a:xfrm>
          <a:prstGeom prst="rect">
            <a:avLst/>
          </a:prstGeom>
          <a:solidFill>
            <a:srgbClr val="F8F8F8"/>
          </a:solidFill>
          <a:ln w="12700">
            <a:solidFill>
              <a:srgbClr val="E0E0E0"/>
            </a:solidFill>
          </a:ln>
        </p:spPr>
        <p:txBody>
          <a:bodyPr/>
          <a:lstStyle/>
          <a:p>
            <a:endParaRPr lang="pt-BR"/>
          </a:p>
        </p:txBody>
      </p:sp>
      <p:pic>
        <p:nvPicPr>
          <p:cNvPr id="211" name="Photo2" descr="Murilo Saul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5104600" y="1161800"/>
            <a:ext cx="1828800" cy="1828800"/>
          </a:xfrm>
          <a:prstGeom prst="ellipse">
            <a:avLst/>
          </a:prstGeom>
        </p:spPr>
      </p:pic>
      <p:sp>
        <p:nvSpPr>
          <p:cNvPr id="212" name="Badge2"/>
          <p:cNvSpPr/>
          <p:nvPr/>
        </p:nvSpPr>
        <p:spPr>
          <a:xfrm>
            <a:off x="2742400" y="3009600"/>
            <a:ext cx="1828800" cy="304800"/>
          </a:xfrm>
          <a:prstGeom prst="roundRect">
            <a:avLst>
              <a:gd name="adj" fmla="val 50000"/>
            </a:avLst>
          </a:prstGeom>
          <a:solidFill>
            <a:srgbClr val="A7014B"/>
          </a:solidFill>
          <a:ln>
            <a:noFill/>
          </a:ln>
        </p:spPr>
        <p:txBody>
          <a:bodyPr anchor="ctr"/>
          <a:lstStyle/>
          <a:p>
            <a:pPr algn="ctr"/>
            <a:r>
              <a:rPr lang="pt-BR" sz="1000" b="1" dirty="0">
                <a:solidFill>
                  <a:srgbClr val="FFFFFF"/>
                </a:solidFill>
              </a:rPr>
              <a:t>Murilo Saul</a:t>
            </a:r>
          </a:p>
        </p:txBody>
      </p:sp>
      <p:sp>
        <p:nvSpPr>
          <p:cNvPr id="213" name="Name2"/>
          <p:cNvSpPr/>
          <p:nvPr/>
        </p:nvSpPr>
        <p:spPr>
          <a:xfrm>
            <a:off x="2590800" y="3352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="t"/>
          <a:lstStyle/>
          <a:p>
            <a:pPr algn="ctr"/>
            <a:r>
              <a:rPr lang="pt-BR" sz="1000" b="1" dirty="0">
                <a:solidFill>
                  <a:srgbClr val="222222"/>
                </a:solidFill>
              </a:rPr>
              <a:t>murilo_Leandro@hotmail.com</a:t>
            </a:r>
          </a:p>
        </p:txBody>
      </p:sp>
      <p:pic>
        <p:nvPicPr>
          <p:cNvPr id="221" name="Photo3" descr="Erick Maciel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7507787" y="1143000"/>
            <a:ext cx="1828800" cy="1828800"/>
          </a:xfrm>
          <a:prstGeom prst="ellipse">
            <a:avLst/>
          </a:prstGeom>
        </p:spPr>
      </p:pic>
      <p:sp>
        <p:nvSpPr>
          <p:cNvPr id="223" name="Name3"/>
          <p:cNvSpPr/>
          <p:nvPr/>
        </p:nvSpPr>
        <p:spPr>
          <a:xfrm>
            <a:off x="4953000" y="3352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="t"/>
          <a:lstStyle/>
          <a:p>
            <a:pPr algn="ctr"/>
            <a:r>
              <a:rPr lang="pt-BR" sz="1000" b="1" dirty="0">
                <a:solidFill>
                  <a:srgbClr val="222222"/>
                </a:solidFill>
              </a:rPr>
              <a:t>erickoliveira1997@hotmail.com</a:t>
            </a:r>
          </a:p>
        </p:txBody>
      </p:sp>
      <p:pic>
        <p:nvPicPr>
          <p:cNvPr id="231" name="Photo4" descr="Matheus Luiz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2742400" y="1104600"/>
            <a:ext cx="1828800" cy="1828800"/>
          </a:xfrm>
          <a:prstGeom prst="ellipse">
            <a:avLst/>
          </a:prstGeom>
        </p:spPr>
      </p:pic>
      <p:sp>
        <p:nvSpPr>
          <p:cNvPr id="233" name="Name4"/>
          <p:cNvSpPr/>
          <p:nvPr/>
        </p:nvSpPr>
        <p:spPr>
          <a:xfrm>
            <a:off x="7315200" y="3352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="t"/>
          <a:lstStyle/>
          <a:p>
            <a:pPr algn="ctr"/>
            <a:r>
              <a:rPr lang="pt-BR" sz="1000" b="1" dirty="0">
                <a:solidFill>
                  <a:srgbClr val="222222"/>
                </a:solidFill>
              </a:rPr>
              <a:t>matheusluiz.dev@gmail.com</a:t>
            </a:r>
          </a:p>
        </p:txBody>
      </p:sp>
      <p:sp>
        <p:nvSpPr>
          <p:cNvPr id="240" name="Card5"/>
          <p:cNvSpPr/>
          <p:nvPr/>
        </p:nvSpPr>
        <p:spPr>
          <a:xfrm>
            <a:off x="9677400" y="1066800"/>
            <a:ext cx="2133600" cy="2743200"/>
          </a:xfrm>
          <a:prstGeom prst="rect">
            <a:avLst/>
          </a:prstGeom>
          <a:solidFill>
            <a:srgbClr val="F8F8F8"/>
          </a:solidFill>
          <a:ln w="12700">
            <a:solidFill>
              <a:srgbClr val="E0E0E0"/>
            </a:solidFill>
          </a:ln>
        </p:spPr>
        <p:txBody>
          <a:bodyPr/>
          <a:lstStyle/>
          <a:p>
            <a:endParaRPr lang="pt-BR"/>
          </a:p>
        </p:txBody>
      </p:sp>
      <p:pic>
        <p:nvPicPr>
          <p:cNvPr id="241" name="Photo5" descr="Sidnei Eckhardt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9829000" y="1143000"/>
            <a:ext cx="1828800" cy="1828800"/>
          </a:xfrm>
          <a:prstGeom prst="ellipse">
            <a:avLst/>
          </a:prstGeom>
        </p:spPr>
      </p:pic>
      <p:sp>
        <p:nvSpPr>
          <p:cNvPr id="243" name="Name5"/>
          <p:cNvSpPr/>
          <p:nvPr/>
        </p:nvSpPr>
        <p:spPr>
          <a:xfrm>
            <a:off x="9677400" y="3352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="t"/>
          <a:lstStyle/>
          <a:p>
            <a:pPr algn="ctr"/>
            <a:r>
              <a:rPr lang="pt-BR" sz="1000" b="1" dirty="0">
                <a:solidFill>
                  <a:srgbClr val="222222"/>
                </a:solidFill>
              </a:rPr>
              <a:t>sidneieckhardt@gmail.com</a:t>
            </a:r>
          </a:p>
        </p:txBody>
      </p:sp>
      <p:sp>
        <p:nvSpPr>
          <p:cNvPr id="300" name="BottomBar"/>
          <p:cNvSpPr/>
          <p:nvPr/>
        </p:nvSpPr>
        <p:spPr>
          <a:xfrm>
            <a:off x="0" y="6553200"/>
            <a:ext cx="12192000" cy="304800"/>
          </a:xfrm>
          <a:prstGeom prst="rect">
            <a:avLst/>
          </a:prstGeom>
          <a:solidFill>
            <a:srgbClr val="A7014B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600" name="Card6"/>
          <p:cNvSpPr/>
          <p:nvPr/>
        </p:nvSpPr>
        <p:spPr>
          <a:xfrm>
            <a:off x="4952200" y="3962400"/>
            <a:ext cx="2133600" cy="2514200"/>
          </a:xfrm>
          <a:prstGeom prst="rect">
            <a:avLst/>
          </a:prstGeom>
          <a:solidFill>
            <a:srgbClr val="F8F8F8"/>
          </a:solidFill>
          <a:ln w="12700">
            <a:solidFill>
              <a:srgbClr val="E0E0E0"/>
            </a:solidFill>
          </a:ln>
        </p:spPr>
        <p:txBody>
          <a:bodyPr/>
          <a:lstStyle/>
          <a:p>
            <a:endParaRPr lang="pt-BR"/>
          </a:p>
        </p:txBody>
      </p:sp>
      <p:pic>
        <p:nvPicPr>
          <p:cNvPr id="601" name="Photo6" descr="Izabel Santos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5104600" y="4114600"/>
            <a:ext cx="1828800" cy="1828800"/>
          </a:xfrm>
          <a:prstGeom prst="ellipse">
            <a:avLst/>
          </a:prstGeom>
        </p:spPr>
      </p:pic>
      <p:sp>
        <p:nvSpPr>
          <p:cNvPr id="602" name="Badge6"/>
          <p:cNvSpPr/>
          <p:nvPr/>
        </p:nvSpPr>
        <p:spPr>
          <a:xfrm>
            <a:off x="5104600" y="5981400"/>
            <a:ext cx="1828800" cy="304800"/>
          </a:xfrm>
          <a:prstGeom prst="roundRect">
            <a:avLst>
              <a:gd name="adj" fmla="val 50000"/>
            </a:avLst>
          </a:prstGeom>
          <a:solidFill>
            <a:srgbClr val="A7014B"/>
          </a:solidFill>
          <a:ln>
            <a:noFill/>
          </a:ln>
        </p:spPr>
        <p:txBody>
          <a:bodyPr anchor="ctr"/>
          <a:lstStyle/>
          <a:p>
            <a:pPr algn="ctr"/>
            <a:r>
              <a:rPr lang="pt-BR" sz="800" b="1" dirty="0">
                <a:solidFill>
                  <a:srgbClr val="FFFFFF"/>
                </a:solidFill>
              </a:rPr>
              <a:t>Professora Orientadora</a:t>
            </a:r>
          </a:p>
        </p:txBody>
      </p:sp>
      <p:sp>
        <p:nvSpPr>
          <p:cNvPr id="603" name="Name6"/>
          <p:cNvSpPr/>
          <p:nvPr/>
        </p:nvSpPr>
        <p:spPr>
          <a:xfrm>
            <a:off x="5029200" y="6284735"/>
            <a:ext cx="2133600" cy="190400"/>
          </a:xfrm>
          <a:prstGeom prst="rect">
            <a:avLst/>
          </a:prstGeom>
          <a:noFill/>
          <a:ln>
            <a:noFill/>
          </a:ln>
        </p:spPr>
        <p:txBody>
          <a:bodyPr anchor="t"/>
          <a:lstStyle/>
          <a:p>
            <a:pPr algn="ctr"/>
            <a:r>
              <a:rPr lang="pt-BR" sz="1000" b="1" dirty="0">
                <a:solidFill>
                  <a:srgbClr val="222222"/>
                </a:solidFill>
              </a:rPr>
              <a:t>Izabel Santos</a:t>
            </a:r>
          </a:p>
        </p:txBody>
      </p:sp>
      <p:sp>
        <p:nvSpPr>
          <p:cNvPr id="6" name="Badge2">
            <a:extLst>
              <a:ext uri="{FF2B5EF4-FFF2-40B4-BE49-F238E27FC236}">
                <a16:creationId xmlns:a16="http://schemas.microsoft.com/office/drawing/2014/main" id="{4611E412-74B0-6273-E9D3-3DEA26D26C2C}"/>
              </a:ext>
            </a:extLst>
          </p:cNvPr>
          <p:cNvSpPr/>
          <p:nvPr/>
        </p:nvSpPr>
        <p:spPr>
          <a:xfrm>
            <a:off x="5104600" y="3027135"/>
            <a:ext cx="1828800" cy="304800"/>
          </a:xfrm>
          <a:prstGeom prst="roundRect">
            <a:avLst>
              <a:gd name="adj" fmla="val 50000"/>
            </a:avLst>
          </a:prstGeom>
          <a:solidFill>
            <a:srgbClr val="A7014B"/>
          </a:solidFill>
          <a:ln>
            <a:noFill/>
          </a:ln>
        </p:spPr>
        <p:txBody>
          <a:bodyPr anchor="ctr"/>
          <a:lstStyle/>
          <a:p>
            <a:pPr algn="ctr"/>
            <a:r>
              <a:rPr lang="pt-BR" sz="1000" b="1" dirty="0">
                <a:solidFill>
                  <a:srgbClr val="FFFFFF"/>
                </a:solidFill>
              </a:rPr>
              <a:t>Erick Maciel</a:t>
            </a:r>
          </a:p>
        </p:txBody>
      </p:sp>
      <p:sp>
        <p:nvSpPr>
          <p:cNvPr id="7" name="Badge2">
            <a:extLst>
              <a:ext uri="{FF2B5EF4-FFF2-40B4-BE49-F238E27FC236}">
                <a16:creationId xmlns:a16="http://schemas.microsoft.com/office/drawing/2014/main" id="{73F4021E-5A53-877B-2FAB-EDFD7833CF73}"/>
              </a:ext>
            </a:extLst>
          </p:cNvPr>
          <p:cNvSpPr/>
          <p:nvPr/>
        </p:nvSpPr>
        <p:spPr>
          <a:xfrm>
            <a:off x="7507787" y="3027135"/>
            <a:ext cx="1828800" cy="304800"/>
          </a:xfrm>
          <a:prstGeom prst="roundRect">
            <a:avLst>
              <a:gd name="adj" fmla="val 50000"/>
            </a:avLst>
          </a:prstGeom>
          <a:solidFill>
            <a:srgbClr val="A7014B"/>
          </a:solidFill>
          <a:ln>
            <a:noFill/>
          </a:ln>
        </p:spPr>
        <p:txBody>
          <a:bodyPr anchor="ctr"/>
          <a:lstStyle/>
          <a:p>
            <a:pPr algn="ctr"/>
            <a:r>
              <a:rPr lang="pt-BR" sz="1000" b="1" dirty="0">
                <a:solidFill>
                  <a:srgbClr val="FFFFFF"/>
                </a:solidFill>
              </a:rPr>
              <a:t>Matheus Silva</a:t>
            </a:r>
          </a:p>
        </p:txBody>
      </p:sp>
      <p:sp>
        <p:nvSpPr>
          <p:cNvPr id="8" name="Badge2">
            <a:extLst>
              <a:ext uri="{FF2B5EF4-FFF2-40B4-BE49-F238E27FC236}">
                <a16:creationId xmlns:a16="http://schemas.microsoft.com/office/drawing/2014/main" id="{25792D74-08F8-C1CF-1C5C-63F137C80E88}"/>
              </a:ext>
            </a:extLst>
          </p:cNvPr>
          <p:cNvSpPr/>
          <p:nvPr/>
        </p:nvSpPr>
        <p:spPr>
          <a:xfrm>
            <a:off x="9829000" y="3027135"/>
            <a:ext cx="1828800" cy="304800"/>
          </a:xfrm>
          <a:prstGeom prst="roundRect">
            <a:avLst>
              <a:gd name="adj" fmla="val 50000"/>
            </a:avLst>
          </a:prstGeom>
          <a:solidFill>
            <a:srgbClr val="A7014B"/>
          </a:solidFill>
          <a:ln>
            <a:noFill/>
          </a:ln>
        </p:spPr>
        <p:txBody>
          <a:bodyPr anchor="ctr"/>
          <a:lstStyle/>
          <a:p>
            <a:pPr algn="ctr"/>
            <a:r>
              <a:rPr lang="pt-BR" sz="1000" b="1" dirty="0">
                <a:solidFill>
                  <a:srgbClr val="FFFFFF"/>
                </a:solidFill>
              </a:rPr>
              <a:t>Sidnei </a:t>
            </a:r>
            <a:r>
              <a:rPr lang="pt-BR" sz="1000" b="1" dirty="0" err="1">
                <a:solidFill>
                  <a:srgbClr val="FFFFFF"/>
                </a:solidFill>
              </a:rPr>
              <a:t>Eckhardt</a:t>
            </a:r>
            <a:endParaRPr lang="pt-BR" sz="1000" b="1" dirty="0">
              <a:solidFill>
                <a:srgbClr val="FFFFFF"/>
              </a:solidFill>
            </a:endParaRPr>
          </a:p>
        </p:txBody>
      </p:sp>
      <p:sp>
        <p:nvSpPr>
          <p:cNvPr id="700" name="Card700"/>
          <p:cNvSpPr/>
          <p:nvPr/>
        </p:nvSpPr>
        <p:spPr>
          <a:xfrm>
            <a:off x="1447800" y="4038600"/>
            <a:ext cx="2133600" cy="2514600"/>
          </a:xfrm>
          <a:prstGeom prst="rect">
            <a:avLst/>
          </a:prstGeom>
          <a:solidFill>
            <a:srgbClr val="F8F8F8"/>
          </a:solidFill>
          <a:ln w="12700">
            <a:solidFill>
              <a:srgbClr val="E0E0E0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702" name="Badge700"/>
          <p:cNvSpPr/>
          <p:nvPr/>
        </p:nvSpPr>
        <p:spPr>
          <a:xfrm>
            <a:off x="1599800" y="5981400"/>
            <a:ext cx="1828800" cy="304800"/>
          </a:xfrm>
          <a:prstGeom prst="roundRect">
            <a:avLst>
              <a:gd name="adj" fmla="val 50000"/>
            </a:avLst>
          </a:prstGeom>
          <a:solidFill>
            <a:srgbClr val="808080"/>
          </a:solidFill>
          <a:ln>
            <a:noFill/>
          </a:ln>
        </p:spPr>
        <p:txBody>
          <a:bodyPr anchor="ctr"/>
          <a:lstStyle/>
          <a:p>
            <a:pPr algn="ctr"/>
            <a:r>
              <a:rPr lang="pt-BR" sz="800" b="1" dirty="0">
                <a:solidFill>
                  <a:srgbClr val="FFFFFF"/>
                </a:solidFill>
              </a:rPr>
              <a:t>Coord. Local do Programa</a:t>
            </a:r>
          </a:p>
        </p:txBody>
      </p:sp>
      <p:sp>
        <p:nvSpPr>
          <p:cNvPr id="703" name="Name700"/>
          <p:cNvSpPr/>
          <p:nvPr/>
        </p:nvSpPr>
        <p:spPr>
          <a:xfrm>
            <a:off x="1447800" y="63242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="t"/>
          <a:lstStyle/>
          <a:p>
            <a:pPr algn="ctr"/>
            <a:r>
              <a:rPr lang="pt-BR" sz="1000" b="1" dirty="0">
                <a:solidFill>
                  <a:srgbClr val="222222"/>
                </a:solidFill>
              </a:rPr>
              <a:t>Maurício Ferreira</a:t>
            </a:r>
          </a:p>
        </p:txBody>
      </p:sp>
      <p:sp>
        <p:nvSpPr>
          <p:cNvPr id="710" name="Card710"/>
          <p:cNvSpPr/>
          <p:nvPr/>
        </p:nvSpPr>
        <p:spPr>
          <a:xfrm>
            <a:off x="8610600" y="3962400"/>
            <a:ext cx="2133600" cy="2514600"/>
          </a:xfrm>
          <a:prstGeom prst="rect">
            <a:avLst/>
          </a:prstGeom>
          <a:solidFill>
            <a:srgbClr val="F8F8F8"/>
          </a:solidFill>
          <a:ln w="12700">
            <a:solidFill>
              <a:srgbClr val="E0E0E0"/>
            </a:solidFill>
          </a:ln>
        </p:spPr>
        <p:txBody>
          <a:bodyPr/>
          <a:lstStyle/>
          <a:p>
            <a:endParaRPr lang="pt-BR"/>
          </a:p>
        </p:txBody>
      </p:sp>
      <p:pic>
        <p:nvPicPr>
          <p:cNvPr id="711" name="Photo710"/>
          <p:cNvPicPr>
            <a:picLocks noChangeAspect="1"/>
          </p:cNvPicPr>
          <p:nvPr/>
        </p:nvPicPr>
        <p:blipFill>
          <a:blip r:embed="rId9"/>
          <a:srcRect/>
          <a:stretch>
            <a:fillRect/>
          </a:stretch>
        </p:blipFill>
        <p:spPr>
          <a:xfrm rot="16200000">
            <a:off x="8762600" y="4114800"/>
            <a:ext cx="1828800" cy="1828800"/>
          </a:xfrm>
          <a:prstGeom prst="ellipse">
            <a:avLst/>
          </a:prstGeom>
        </p:spPr>
      </p:pic>
      <p:sp>
        <p:nvSpPr>
          <p:cNvPr id="712" name="Badge710"/>
          <p:cNvSpPr/>
          <p:nvPr/>
        </p:nvSpPr>
        <p:spPr>
          <a:xfrm>
            <a:off x="8762600" y="5981400"/>
            <a:ext cx="1828800" cy="304800"/>
          </a:xfrm>
          <a:prstGeom prst="roundRect">
            <a:avLst>
              <a:gd name="adj" fmla="val 50000"/>
            </a:avLst>
          </a:prstGeom>
          <a:solidFill>
            <a:srgbClr val="808080"/>
          </a:solidFill>
          <a:ln>
            <a:noFill/>
          </a:ln>
        </p:spPr>
        <p:txBody>
          <a:bodyPr anchor="ctr"/>
          <a:lstStyle/>
          <a:p>
            <a:pPr algn="ctr"/>
            <a:r>
              <a:rPr lang="pt-BR" sz="800" b="1" dirty="0">
                <a:solidFill>
                  <a:srgbClr val="FFFFFF"/>
                </a:solidFill>
              </a:rPr>
              <a:t>CEO 20cinco Comunicação</a:t>
            </a:r>
          </a:p>
        </p:txBody>
      </p:sp>
      <p:sp>
        <p:nvSpPr>
          <p:cNvPr id="713" name="Name710"/>
          <p:cNvSpPr/>
          <p:nvPr/>
        </p:nvSpPr>
        <p:spPr>
          <a:xfrm>
            <a:off x="8610600" y="6286200"/>
            <a:ext cx="2133600" cy="228600"/>
          </a:xfrm>
          <a:prstGeom prst="rect">
            <a:avLst/>
          </a:prstGeom>
          <a:noFill/>
          <a:ln>
            <a:noFill/>
          </a:ln>
        </p:spPr>
        <p:txBody>
          <a:bodyPr anchor="t"/>
          <a:lstStyle/>
          <a:p>
            <a:pPr algn="ctr"/>
            <a:r>
              <a:rPr lang="pt-BR" sz="1000" b="1" dirty="0">
                <a:solidFill>
                  <a:srgbClr val="222222"/>
                </a:solidFill>
              </a:rPr>
              <a:t>Caroline Paiva</a:t>
            </a:r>
          </a:p>
        </p:txBody>
      </p:sp>
      <p:pic>
        <p:nvPicPr>
          <p:cNvPr id="2" name="Photo700">
            <a:extLst>
              <a:ext uri="{FF2B5EF4-FFF2-40B4-BE49-F238E27FC236}">
                <a16:creationId xmlns:a16="http://schemas.microsoft.com/office/drawing/2014/main" id="{76686C6E-A412-0D1F-6763-3D76EB5F807F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>
          <a:xfrm>
            <a:off x="1637500" y="4113568"/>
            <a:ext cx="1828800" cy="18288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729674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05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ostinder_content_bg_dim.jpg"/>
          <p:cNvPicPr>
            <a:picLocks noChangeAspect="1"/>
          </p:cNvPicPr>
          <p:nvPr/>
        </p:nvPicPr>
        <p:blipFill>
          <a:blip r:embed="rId3"/>
          <a:srcRect l="1" r="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49808" y="758952"/>
            <a:ext cx="6658698" cy="4407408"/>
          </a:xfrm>
          <a:prstGeom prst="roundRect">
            <a:avLst>
              <a:gd name="adj" fmla="val 4564"/>
            </a:avLst>
          </a:prstGeom>
          <a:solidFill>
            <a:srgbClr val="FFFFFF">
              <a:alpha val="6000"/>
            </a:srgbClr>
          </a:solidFill>
          <a:ln w="13970">
            <a:solidFill>
              <a:srgbClr val="EC3C93">
                <a:alpha val="65000"/>
              </a:srgbClr>
            </a:solidFill>
            <a:prstDash val="solid"/>
          </a:ln>
          <a:effectLst>
            <a:outerShdw blurRad="25400" dist="508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sp>
        <p:nvSpPr>
          <p:cNvPr id="4" name="Shape 1"/>
          <p:cNvSpPr/>
          <p:nvPr/>
        </p:nvSpPr>
        <p:spPr>
          <a:xfrm>
            <a:off x="1042416" y="1078992"/>
            <a:ext cx="73152" cy="1024128"/>
          </a:xfrm>
          <a:prstGeom prst="rect">
            <a:avLst/>
          </a:prstGeom>
          <a:solidFill>
            <a:srgbClr val="EC3C93"/>
          </a:solidFill>
          <a:ln w="12700">
            <a:solidFill>
              <a:srgbClr val="EC3C93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5" name="Text 2"/>
          <p:cNvSpPr/>
          <p:nvPr/>
        </p:nvSpPr>
        <p:spPr>
          <a:xfrm>
            <a:off x="1335024" y="987552"/>
            <a:ext cx="5588290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lvl="0" algn="ctr">
              <a:defRPr/>
            </a:pPr>
            <a:r>
              <a:rPr lang="pt-BR" sz="2800" b="1" dirty="0">
                <a:solidFill>
                  <a:srgbClr val="F6EAF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Menos mensagens. </a:t>
            </a:r>
          </a:p>
          <a:p>
            <a:pPr lvl="0" algn="ctr">
              <a:defRPr/>
            </a:pPr>
            <a:r>
              <a:rPr lang="pt-BR" sz="2800" b="1" dirty="0">
                <a:solidFill>
                  <a:srgbClr val="F6EAF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Mais controle sobre cada aprovação.</a:t>
            </a:r>
            <a:endParaRPr lang="pt-BR" sz="2800" dirty="0">
              <a:solidFill>
                <a:prstClr val="black"/>
              </a:solidFill>
            </a:endParaRPr>
          </a:p>
        </p:txBody>
      </p:sp>
      <p:sp>
        <p:nvSpPr>
          <p:cNvPr id="6" name="Text 3"/>
          <p:cNvSpPr/>
          <p:nvPr/>
        </p:nvSpPr>
        <p:spPr>
          <a:xfrm>
            <a:off x="1353312" y="1874520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96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7" name="Shape 4"/>
          <p:cNvSpPr/>
          <p:nvPr/>
        </p:nvSpPr>
        <p:spPr>
          <a:xfrm>
            <a:off x="2161032" y="2441448"/>
            <a:ext cx="4251960" cy="0"/>
          </a:xfrm>
          <a:prstGeom prst="line">
            <a:avLst/>
          </a:prstGeom>
          <a:noFill/>
          <a:ln w="12700">
            <a:solidFill>
              <a:srgbClr val="EC3C93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9" name="Text 6"/>
          <p:cNvSpPr/>
          <p:nvPr/>
        </p:nvSpPr>
        <p:spPr>
          <a:xfrm>
            <a:off x="1914144" y="4302253"/>
            <a:ext cx="44074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8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alpha val="95000"/>
                  </a:schemeClr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Obrigado</a:t>
            </a:r>
            <a:r>
              <a:rPr kumimoji="0" lang="pt-BR" sz="2800" b="1" i="0" u="none" strike="noStrike" kern="1200" cap="none" spc="0" normalizeH="0" baseline="0" noProof="0" dirty="0">
                <a:ln>
                  <a:noFill/>
                </a:ln>
                <a:solidFill>
                  <a:srgbClr val="F7D7E5">
                    <a:alpha val="95000"/>
                  </a:srgbClr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!</a:t>
            </a:r>
            <a:endParaRPr kumimoji="0" lang="pt-BR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1941576" y="2775204"/>
            <a:ext cx="4352544" cy="475488"/>
          </a:xfrm>
          <a:prstGeom prst="roundRect">
            <a:avLst>
              <a:gd name="adj" fmla="val 19231"/>
            </a:avLst>
          </a:prstGeom>
          <a:solidFill>
            <a:srgbClr val="B00058">
              <a:alpha val="92000"/>
            </a:srgbClr>
          </a:solidFill>
          <a:ln w="10160">
            <a:solidFill>
              <a:srgbClr val="EC3C93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1" name="Text 8"/>
          <p:cNvSpPr/>
          <p:nvPr/>
        </p:nvSpPr>
        <p:spPr>
          <a:xfrm>
            <a:off x="2161032" y="2939796"/>
            <a:ext cx="391363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19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Postinder</a:t>
            </a:r>
            <a:r>
              <a:rPr kumimoji="0" lang="pt-BR" sz="119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· Plataforma de Aprovação de Conteúdos</a:t>
            </a:r>
            <a:endParaRPr kumimoji="0" lang="pt-BR" sz="119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7708392" y="1042416"/>
            <a:ext cx="2907792" cy="2907792"/>
          </a:xfrm>
          <a:prstGeom prst="ellipse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EC3C93">
                <a:alpha val="66000"/>
              </a:srgbClr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3" name="Shape 10"/>
          <p:cNvSpPr/>
          <p:nvPr/>
        </p:nvSpPr>
        <p:spPr>
          <a:xfrm>
            <a:off x="8074152" y="1408176"/>
            <a:ext cx="2176272" cy="2176272"/>
          </a:xfrm>
          <a:prstGeom prst="ellipse">
            <a:avLst/>
          </a:prstGeom>
          <a:solidFill>
            <a:srgbClr val="B00058">
              <a:alpha val="36000"/>
            </a:srgbClr>
          </a:solidFill>
          <a:ln w="15240">
            <a:solidFill>
              <a:srgbClr val="EC3C93">
                <a:alpha val="82000"/>
              </a:srgbClr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4" name="Text 11"/>
          <p:cNvSpPr/>
          <p:nvPr/>
        </p:nvSpPr>
        <p:spPr>
          <a:xfrm>
            <a:off x="8503920" y="1719072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4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pic>
        <p:nvPicPr>
          <p:cNvPr id="27" name="Gráfico 26" descr="Fogo com preenchimento sólido">
            <a:extLst>
              <a:ext uri="{FF2B5EF4-FFF2-40B4-BE49-F238E27FC236}">
                <a16:creationId xmlns:a16="http://schemas.microsoft.com/office/drawing/2014/main" id="{2CE92F5F-094A-4FF5-E0B9-265BD3CC5AC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503920" y="1883664"/>
            <a:ext cx="1280160" cy="1280160"/>
          </a:xfrm>
          <a:prstGeom prst="rect">
            <a:avLst/>
          </a:prstGeom>
        </p:spPr>
      </p:pic>
      <p:sp>
        <p:nvSpPr>
          <p:cNvPr id="44" name="Shape 10">
            <a:extLst>
              <a:ext uri="{FF2B5EF4-FFF2-40B4-BE49-F238E27FC236}">
                <a16:creationId xmlns:a16="http://schemas.microsoft.com/office/drawing/2014/main" id="{DF2B3EF6-62AD-129F-4C36-CB1347DF5E01}"/>
              </a:ext>
            </a:extLst>
          </p:cNvPr>
          <p:cNvSpPr/>
          <p:nvPr/>
        </p:nvSpPr>
        <p:spPr>
          <a:xfrm>
            <a:off x="0" y="5532120"/>
            <a:ext cx="12191695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46" name="Text Realizacao">
            <a:extLst>
              <a:ext uri="{FF2B5EF4-FFF2-40B4-BE49-F238E27FC236}">
                <a16:creationId xmlns:a16="http://schemas.microsoft.com/office/drawing/2014/main" id="{F1508FA4-CD1A-7719-D6FB-45B6DA4FEE54}"/>
              </a:ext>
            </a:extLst>
          </p:cNvPr>
          <p:cNvSpPr/>
          <p:nvPr/>
        </p:nvSpPr>
        <p:spPr>
          <a:xfrm>
            <a:off x="502920" y="5578475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pt-BR" sz="1100" b="1" noProof="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Realização:</a:t>
            </a:r>
            <a:endParaRPr lang="pt-BR" sz="1100" noProof="0" dirty="0"/>
          </a:p>
        </p:txBody>
      </p:sp>
      <p:sp>
        <p:nvSpPr>
          <p:cNvPr id="48" name="Shape 11">
            <a:extLst>
              <a:ext uri="{FF2B5EF4-FFF2-40B4-BE49-F238E27FC236}">
                <a16:creationId xmlns:a16="http://schemas.microsoft.com/office/drawing/2014/main" id="{033E7229-57DD-7C51-A2AE-052BE261E3B1}"/>
              </a:ext>
            </a:extLst>
          </p:cNvPr>
          <p:cNvSpPr/>
          <p:nvPr/>
        </p:nvSpPr>
        <p:spPr>
          <a:xfrm>
            <a:off x="3154680" y="5742432"/>
            <a:ext cx="0" cy="713232"/>
          </a:xfrm>
          <a:prstGeom prst="line">
            <a:avLst/>
          </a:prstGeom>
          <a:noFill/>
          <a:ln w="12700">
            <a:solidFill>
              <a:srgbClr val="B8B8B8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50" name="Shape 12">
            <a:extLst>
              <a:ext uri="{FF2B5EF4-FFF2-40B4-BE49-F238E27FC236}">
                <a16:creationId xmlns:a16="http://schemas.microsoft.com/office/drawing/2014/main" id="{4B789538-8734-2FC8-628D-EA4C1843F6D3}"/>
              </a:ext>
            </a:extLst>
          </p:cNvPr>
          <p:cNvSpPr/>
          <p:nvPr/>
        </p:nvSpPr>
        <p:spPr>
          <a:xfrm>
            <a:off x="6035040" y="5742432"/>
            <a:ext cx="0" cy="713232"/>
          </a:xfrm>
          <a:prstGeom prst="line">
            <a:avLst/>
          </a:prstGeom>
          <a:noFill/>
          <a:ln w="12700">
            <a:solidFill>
              <a:srgbClr val="B8B8B8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pic>
        <p:nvPicPr>
          <p:cNvPr id="52" name="image1.png" descr="Placa de letreiro luminoso&#10;&#10;Descrição gerada automaticamente com confiança média">
            <a:extLst>
              <a:ext uri="{FF2B5EF4-FFF2-40B4-BE49-F238E27FC236}">
                <a16:creationId xmlns:a16="http://schemas.microsoft.com/office/drawing/2014/main" id="{44373107-8813-E30B-33E4-47AB3685506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 bwMode="auto">
          <a:xfrm>
            <a:off x="3575239" y="5831666"/>
            <a:ext cx="1901779" cy="652263"/>
          </a:xfrm>
          <a:prstGeom prst="rect">
            <a:avLst/>
          </a:prstGeom>
        </p:spPr>
      </p:pic>
      <p:pic>
        <p:nvPicPr>
          <p:cNvPr id="54" name="Imagem 53" descr="Logotipo&#10;&#10;O conteúdo gerado por IA pode estar incorreto.">
            <a:extLst>
              <a:ext uri="{FF2B5EF4-FFF2-40B4-BE49-F238E27FC236}">
                <a16:creationId xmlns:a16="http://schemas.microsoft.com/office/drawing/2014/main" id="{BA10E718-E5DA-2BE7-EAAF-A5DF916F3D8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079" y="5967298"/>
            <a:ext cx="1896011" cy="488366"/>
          </a:xfrm>
          <a:prstGeom prst="rect">
            <a:avLst/>
          </a:prstGeom>
        </p:spPr>
      </p:pic>
      <p:pic>
        <p:nvPicPr>
          <p:cNvPr id="56" name="Imagem 55">
            <a:extLst>
              <a:ext uri="{FF2B5EF4-FFF2-40B4-BE49-F238E27FC236}">
                <a16:creationId xmlns:a16="http://schemas.microsoft.com/office/drawing/2014/main" id="{2B1D0F0D-C66F-15B4-B7D5-5C13AFFDC71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11329" y="5815051"/>
            <a:ext cx="2018640" cy="704621"/>
          </a:xfrm>
          <a:prstGeom prst="rect">
            <a:avLst/>
          </a:prstGeom>
        </p:spPr>
      </p:pic>
      <p:pic>
        <p:nvPicPr>
          <p:cNvPr id="58" name="Imagem 57">
            <a:extLst>
              <a:ext uri="{FF2B5EF4-FFF2-40B4-BE49-F238E27FC236}">
                <a16:creationId xmlns:a16="http://schemas.microsoft.com/office/drawing/2014/main" id="{3E5B20EF-D4F8-70D8-4B44-2890891BEE12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r="7165"/>
          <a:stretch>
            <a:fillRect/>
          </a:stretch>
        </p:blipFill>
        <p:spPr>
          <a:xfrm>
            <a:off x="8312642" y="5805238"/>
            <a:ext cx="1205515" cy="678691"/>
          </a:xfrm>
          <a:prstGeom prst="rect">
            <a:avLst/>
          </a:prstGeom>
        </p:spPr>
      </p:pic>
      <p:pic>
        <p:nvPicPr>
          <p:cNvPr id="60" name="Imagem 59">
            <a:extLst>
              <a:ext uri="{FF2B5EF4-FFF2-40B4-BE49-F238E27FC236}">
                <a16:creationId xmlns:a16="http://schemas.microsoft.com/office/drawing/2014/main" id="{FCC88D6C-AE71-C2A0-3063-3CA71764C3A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40939" y="5769494"/>
            <a:ext cx="2027974" cy="776606"/>
          </a:xfrm>
          <a:prstGeom prst="rect">
            <a:avLst/>
          </a:prstGeom>
        </p:spPr>
      </p:pic>
      <p:sp>
        <p:nvSpPr>
          <p:cNvPr id="62" name="Text Realizacao">
            <a:extLst>
              <a:ext uri="{FF2B5EF4-FFF2-40B4-BE49-F238E27FC236}">
                <a16:creationId xmlns:a16="http://schemas.microsoft.com/office/drawing/2014/main" id="{96937D03-A394-18B0-68C0-356EF4FD3374}"/>
              </a:ext>
            </a:extLst>
          </p:cNvPr>
          <p:cNvSpPr/>
          <p:nvPr/>
        </p:nvSpPr>
        <p:spPr>
          <a:xfrm>
            <a:off x="6293798" y="5613116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pt-BR" sz="1100" b="1" noProof="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Apoio:</a:t>
            </a:r>
            <a:endParaRPr lang="pt-BR" sz="1100" noProof="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319</TotalTime>
  <Words>1063</Words>
  <Application>Microsoft Office PowerPoint</Application>
  <PresentationFormat>Widescreen</PresentationFormat>
  <Paragraphs>182</Paragraphs>
  <Slides>11</Slides>
  <Notes>10</Notes>
  <HiddenSlides>0</HiddenSlides>
  <MMClips>1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1_Office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Postinder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Postinder - Capa editável</dc:title>
  <dc:subject>Capa editável - apresentação final do projeto</dc:subject>
  <dc:creator>OpenAI</dc:creator>
  <cp:lastModifiedBy>Murilo Leandro Saul</cp:lastModifiedBy>
  <cp:revision>25</cp:revision>
  <dcterms:created xsi:type="dcterms:W3CDTF">2026-08-14T16:33:07Z</dcterms:created>
  <dcterms:modified xsi:type="dcterms:W3CDTF">2026-08-20T05:09:44Z</dcterms:modified>
</cp:coreProperties>
</file>